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2312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A1232"/>
          </a:solidFill>
          <a:ln w="12700">
            <a:solidFill>
              <a:srgbClr val="0A12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F59E0B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MASTER OF COMPUTER APPLICATIONS</a:t>
            </a:r>
            <a:endParaRPr lang="en-US" sz="1000" dirty="0">
              <a:latin typeface="Calisto MT" panose="0204060305050503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Department of Computer Science and Engineering  |  University of Kalyani</a:t>
            </a:r>
            <a:endParaRPr lang="en-US" sz="1100" dirty="0">
              <a:latin typeface="Calisto MT" panose="0204060305050503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B3D8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Kalyani, India  |  June 2026</a:t>
            </a:r>
            <a:endParaRPr lang="en-US" sz="1000" dirty="0">
              <a:latin typeface="Calisto MT" panose="0204060305050503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162145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sto MT" panose="02040603050505030304" pitchFamily="18" charset="0"/>
                <a:ea typeface="Cambria" pitchFamily="34" charset="-122"/>
                <a:cs typeface="Cambria" pitchFamily="34" charset="-120"/>
              </a:rPr>
              <a:t>Diagonal Gradient Extension and</a:t>
            </a:r>
            <a:endParaRPr lang="en-US" sz="2800" dirty="0">
              <a:latin typeface="Calisto MT" panose="02040603050505030304" pitchFamily="18" charset="0"/>
            </a:endParaRPr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sto MT" panose="02040603050505030304" pitchFamily="18" charset="0"/>
                <a:ea typeface="Cambria" pitchFamily="34" charset="-122"/>
                <a:cs typeface="Cambria" pitchFamily="34" charset="-120"/>
              </a:rPr>
              <a:t>Otsu-Based Evaluation for</a:t>
            </a:r>
            <a:endParaRPr lang="en-US" sz="2800" dirty="0">
              <a:latin typeface="Calisto MT" panose="02040603050505030304" pitchFamily="18" charset="0"/>
            </a:endParaRPr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sto MT" panose="02040603050505030304" pitchFamily="18" charset="0"/>
                <a:ea typeface="Cambria" pitchFamily="34" charset="-122"/>
                <a:cs typeface="Cambria" pitchFamily="34" charset="-120"/>
              </a:rPr>
              <a:t>Lackadaisical Quantum Walk</a:t>
            </a:r>
            <a:endParaRPr lang="en-US" sz="2800" dirty="0">
              <a:latin typeface="Calisto MT" panose="02040603050505030304" pitchFamily="18" charset="0"/>
            </a:endParaRPr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sto MT" panose="02040603050505030304" pitchFamily="18" charset="0"/>
                <a:ea typeface="Cambria" pitchFamily="34" charset="-122"/>
                <a:cs typeface="Cambria" pitchFamily="34" charset="-120"/>
              </a:rPr>
              <a:t>Edge Detection</a:t>
            </a:r>
            <a:endParaRPr lang="en-US" sz="2800" dirty="0">
              <a:latin typeface="Calisto MT" panose="0204060305050503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743200" y="3377257"/>
            <a:ext cx="36576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355375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B3D8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>
              <a:latin typeface="Calisto MT" panose="0204060305050503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3836089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sto MT" panose="02040603050505030304" pitchFamily="18" charset="0"/>
                <a:ea typeface="Cambria" pitchFamily="34" charset="-122"/>
                <a:cs typeface="Cambria" pitchFamily="34" charset="-120"/>
              </a:rPr>
              <a:t>Anish Chattopadhyay</a:t>
            </a:r>
            <a:endParaRPr lang="en-US" sz="1800" dirty="0">
              <a:latin typeface="Calisto MT" panose="0204060305050503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424437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Roll No. 90/MCA No. 240003</a:t>
            </a:r>
            <a:endParaRPr lang="en-US" sz="1100" dirty="0">
              <a:latin typeface="Calisto MT" panose="0204060305050503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4588663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9E0B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Under the supervision of  Mr. Shambo Chatterjee</a:t>
            </a:r>
            <a:endParaRPr lang="en-US" sz="1400" dirty="0">
              <a:latin typeface="Calisto MT" panose="0204060305050503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4B"/>
                </a:solidFill>
                <a:latin typeface="Calisto MT" panose="02040603050505030304" pitchFamily="18" charset="0"/>
                <a:ea typeface="Cambria" pitchFamily="34" charset="-122"/>
                <a:cs typeface="Cambria" pitchFamily="34" charset="-120"/>
              </a:rPr>
              <a:t>What is Edge Detection?</a:t>
            </a:r>
            <a:endParaRPr lang="en-US" sz="2600" dirty="0">
              <a:latin typeface="Calisto MT" panose="0204060305050503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134134"/>
            <a:ext cx="4754880" cy="2693581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D1B4B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Edge detection finds boundaries between regions of different pixel intensities in an image.</a:t>
            </a:r>
          </a:p>
          <a:p>
            <a:pPr>
              <a:buSzPct val="100000"/>
            </a:pPr>
            <a:endParaRPr lang="en-US" sz="1300" dirty="0">
              <a:latin typeface="Calisto MT" panose="0204060305050503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4B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These boundaries correspond to object outlines, transitions in depth, and surface changes.</a:t>
            </a:r>
          </a:p>
          <a:p>
            <a:pPr>
              <a:buSzPct val="100000"/>
            </a:pPr>
            <a:endParaRPr lang="en-US" sz="1300" dirty="0">
              <a:latin typeface="Calisto MT" panose="0204060305050503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4B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It is a fundamental step in computer vision pipelines — applied before recognition, segmentation, or compression.</a:t>
            </a:r>
          </a:p>
          <a:p>
            <a:pPr>
              <a:buSzPct val="100000"/>
            </a:pPr>
            <a:endParaRPr lang="en-US" sz="1300" dirty="0">
              <a:latin typeface="Calisto MT" panose="0204060305050503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4B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Example: detecting the boundary of a car in an image before tracking it in a video.</a:t>
            </a:r>
            <a:endParaRPr lang="en-US" sz="1300" dirty="0">
              <a:latin typeface="Calisto MT" panose="0204060305050503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394960" y="971105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394960" y="93566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8F"/>
                </a:solidFill>
              </a:rPr>
              <a:t>Original Image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94960" y="12344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🟫🟫⬛⬛⬛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🟫🟫⬛⬛⬛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🟫🟫⬛⬛⬛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086600" y="2388425"/>
            <a:ext cx="0" cy="320040"/>
          </a:xfrm>
          <a:prstGeom prst="line">
            <a:avLst/>
          </a:prstGeom>
          <a:noFill/>
          <a:ln w="25400">
            <a:solidFill>
              <a:srgbClr val="1A3A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766560" y="2662745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3A8F"/>
                </a:solidFill>
              </a:rPr>
              <a:t>▼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394960" y="2982785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394960" y="294734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6534"/>
                </a:solidFill>
              </a:rPr>
              <a:t>Edge Map Output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94960" y="32461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⬜⬜🔲⬜⬜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⬜⬜🔲⬜⬜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⬜⬜🔲⬜⬜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45230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sto MT" panose="02040603050505030304" pitchFamily="18" charset="0"/>
              </a:rPr>
              <a:t>Edge = sharp change in pixel intensity</a:t>
            </a:r>
            <a:endParaRPr lang="en-US" sz="1200" dirty="0">
              <a:latin typeface="Calisto MT" panose="0204060305050503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4B"/>
                </a:solidFill>
                <a:latin typeface="Calisto MT" panose="02040603050505030304" pitchFamily="18" charset="0"/>
                <a:ea typeface="Cambria" pitchFamily="34" charset="-122"/>
                <a:cs typeface="Cambria" pitchFamily="34" charset="-120"/>
              </a:rPr>
              <a:t>Why Do We Need Edge Detection?</a:t>
            </a:r>
            <a:endParaRPr lang="en-US" sz="2600" dirty="0">
              <a:latin typeface="Calisto MT" panose="0204060305050503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51760" cy="1783080"/>
          </a:xfrm>
          <a:prstGeom prst="roundRect">
            <a:avLst>
              <a:gd name="adj" fmla="val 6154"/>
            </a:avLst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0698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sto MT" panose="02040603050505030304" pitchFamily="18" charset="0"/>
                <a:ea typeface="Cambria" pitchFamily="34" charset="-122"/>
                <a:cs typeface="Cambria" pitchFamily="34" charset="-120"/>
              </a:rPr>
              <a:t>Medical Imaging</a:t>
            </a:r>
            <a:endParaRPr lang="en-US" sz="1300" dirty="0">
              <a:latin typeface="Calisto MT" panose="0204060305050503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listo MT" panose="02040603050505030304" pitchFamily="18" charset="0"/>
              </a:rPr>
              <a:t>In </a:t>
            </a:r>
            <a:r>
              <a:rPr lang="en-IN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sto MT" panose="02040603050505030304" pitchFamily="18" charset="0"/>
              </a:rPr>
              <a:t>medical imaging</a:t>
            </a:r>
            <a:r>
              <a:rPr lang="en-I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listo MT" panose="02040603050505030304" pitchFamily="18" charset="0"/>
              </a:rPr>
              <a:t>, doctors need to detect the boundary of tumors, organs, or tissues in MRI and CT scans. A small error in boundary detection can lead to incorrect diagnosis.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  <a:latin typeface="Calisto MT" panose="0204060305050503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0" y="960120"/>
            <a:ext cx="2651760" cy="1783080"/>
          </a:xfrm>
          <a:prstGeom prst="roundRect">
            <a:avLst>
              <a:gd name="adj" fmla="val 6154"/>
            </a:avLst>
          </a:prstGeom>
          <a:solidFill>
            <a:srgbClr val="FEF9C3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337560" y="10698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sto MT" panose="02040603050505030304" pitchFamily="18" charset="0"/>
                <a:ea typeface="Cambria" pitchFamily="34" charset="-122"/>
                <a:cs typeface="Cambria" pitchFamily="34" charset="-120"/>
              </a:rPr>
              <a:t>Autonomous Vehicles</a:t>
            </a:r>
            <a:endParaRPr lang="en-US" sz="1300" dirty="0">
              <a:latin typeface="Calisto MT" panose="0204060305050503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337560" y="14630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listo MT" panose="02040603050505030304" pitchFamily="18" charset="0"/>
              </a:rPr>
              <a:t>In </a:t>
            </a:r>
            <a:r>
              <a:rPr lang="en-IN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sto MT" panose="02040603050505030304" pitchFamily="18" charset="0"/>
              </a:rPr>
              <a:t>autonomous vehicles</a:t>
            </a:r>
            <a:r>
              <a:rPr lang="en-I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listo MT" panose="02040603050505030304" pitchFamily="18" charset="0"/>
              </a:rPr>
              <a:t>, the car's computer must detect road lane boundaries, pedestrians, and obstacles in real time. If it misses an edge, it may not detect a person standing on the road.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  <a:latin typeface="Calisto MT" panose="0204060305050503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35040" y="960120"/>
            <a:ext cx="2651760" cy="1783080"/>
          </a:xfrm>
          <a:prstGeom prst="roundRect">
            <a:avLst>
              <a:gd name="adj" fmla="val 6154"/>
            </a:avLst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172200" y="10698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sto MT" panose="02040603050505030304" pitchFamily="18" charset="0"/>
                <a:ea typeface="Cambria" pitchFamily="34" charset="-122"/>
                <a:cs typeface="Cambria" pitchFamily="34" charset="-120"/>
              </a:rPr>
              <a:t>Remote Sensing</a:t>
            </a:r>
            <a:endParaRPr lang="en-US" sz="1300" dirty="0">
              <a:latin typeface="Calisto MT" panose="0204060305050503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172200" y="14630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listo MT" panose="02040603050505030304" pitchFamily="18" charset="0"/>
              </a:rPr>
              <a:t>In </a:t>
            </a:r>
            <a:r>
              <a:rPr lang="en-IN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sto MT" panose="02040603050505030304" pitchFamily="18" charset="0"/>
              </a:rPr>
              <a:t>remote sensing</a:t>
            </a:r>
            <a:r>
              <a:rPr lang="en-I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listo MT" panose="02040603050505030304" pitchFamily="18" charset="0"/>
              </a:rPr>
              <a:t>, satellites take images of earth from space. Scientists use edge detection to identify rivers, coastlines, forests, and agricultural zones from these images.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  <a:latin typeface="Calisto MT" panose="0204060305050503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2651760" cy="1783080"/>
          </a:xfrm>
          <a:prstGeom prst="roundRect">
            <a:avLst>
              <a:gd name="adj" fmla="val 6154"/>
            </a:avLst>
          </a:prstGeom>
          <a:solidFill>
            <a:srgbClr val="EDE9FE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02920" y="30358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sto MT" panose="02040603050505030304" pitchFamily="18" charset="0"/>
                <a:ea typeface="Cambria" pitchFamily="34" charset="-122"/>
                <a:cs typeface="Cambria" pitchFamily="34" charset="-120"/>
              </a:rPr>
              <a:t>Forensic Analysis</a:t>
            </a:r>
            <a:endParaRPr lang="en-US" sz="1300" dirty="0">
              <a:latin typeface="Calisto MT" panose="0204060305050503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02920" y="34290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listo MT" panose="02040603050505030304" pitchFamily="18" charset="0"/>
              </a:rPr>
              <a:t>In </a:t>
            </a:r>
            <a:r>
              <a:rPr lang="en-IN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sto MT" panose="02040603050505030304" pitchFamily="18" charset="0"/>
              </a:rPr>
              <a:t>forensic analysis</a:t>
            </a:r>
            <a:r>
              <a:rPr lang="en-I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listo MT" panose="02040603050505030304" pitchFamily="18" charset="0"/>
              </a:rPr>
              <a:t>, edge detection helps identify tampered or forged digital photographs by finding unnatural boundaries.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  <a:latin typeface="Calisto MT" panose="0204060305050503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200400" y="2926080"/>
            <a:ext cx="2651760" cy="1783080"/>
          </a:xfrm>
          <a:prstGeom prst="roundRect">
            <a:avLst>
              <a:gd name="adj" fmla="val 6154"/>
            </a:avLst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337560" y="30358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sto MT" panose="02040603050505030304" pitchFamily="18" charset="0"/>
                <a:ea typeface="Cambria" pitchFamily="34" charset="-122"/>
                <a:cs typeface="Cambria" pitchFamily="34" charset="-120"/>
              </a:rPr>
              <a:t>Image Compression</a:t>
            </a:r>
            <a:endParaRPr lang="en-US" sz="1300" dirty="0">
              <a:latin typeface="Calisto MT" panose="0204060305050503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337560" y="34290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listo MT" panose="02040603050505030304" pitchFamily="18" charset="0"/>
              </a:rPr>
              <a:t>In </a:t>
            </a:r>
            <a:r>
              <a:rPr lang="en-IN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sto MT" panose="02040603050505030304" pitchFamily="18" charset="0"/>
              </a:rPr>
              <a:t>image compression</a:t>
            </a:r>
            <a:r>
              <a:rPr lang="en-I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listo MT" panose="02040603050505030304" pitchFamily="18" charset="0"/>
              </a:rPr>
              <a:t>, algorithms like JPEG remove non-edge regions first because they carry less information — but edges must be preserved.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  <a:latin typeface="Calisto MT" panose="0204060305050503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035040" y="2926080"/>
            <a:ext cx="2651760" cy="1783080"/>
          </a:xfrm>
          <a:prstGeom prst="roundRect">
            <a:avLst>
              <a:gd name="adj" fmla="val 6154"/>
            </a:avLst>
          </a:prstGeom>
          <a:solidFill>
            <a:srgbClr val="FFE4E6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172200" y="30358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sto MT" panose="02040603050505030304" pitchFamily="18" charset="0"/>
                <a:ea typeface="Cambria" pitchFamily="34" charset="-122"/>
                <a:cs typeface="Cambria" pitchFamily="34" charset="-120"/>
              </a:rPr>
              <a:t>Object Recognition</a:t>
            </a:r>
            <a:endParaRPr lang="en-US" sz="1300" dirty="0">
              <a:latin typeface="Calisto MT" panose="0204060305050503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172200" y="34290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listo MT" panose="02040603050505030304" pitchFamily="18" charset="0"/>
              </a:rPr>
              <a:t>In </a:t>
            </a:r>
            <a:r>
              <a:rPr lang="en-IN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sto MT" panose="02040603050505030304" pitchFamily="18" charset="0"/>
              </a:rPr>
              <a:t>object recognition</a:t>
            </a:r>
            <a:r>
              <a:rPr lang="en-I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listo MT" panose="02040603050505030304" pitchFamily="18" charset="0"/>
              </a:rPr>
              <a:t>, the shape of an object is defined by its edges. A neural network uses edge features to classify whether an image contains a cat, a car, or a building.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  <a:latin typeface="Calisto MT" panose="0204060305050503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4B"/>
                </a:solidFill>
                <a:latin typeface="Calisto MT" panose="02040603050505030304" pitchFamily="18" charset="0"/>
                <a:ea typeface="Cambria" pitchFamily="34" charset="-122"/>
                <a:cs typeface="Cambria" pitchFamily="34" charset="-120"/>
              </a:rPr>
              <a:t>Classical Edge Detection — Methods &amp; Limitations</a:t>
            </a:r>
            <a:endParaRPr lang="en-US" sz="2600" dirty="0">
              <a:latin typeface="Calisto MT" panose="0204060305050503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31920" cy="4074980"/>
          </a:xfrm>
          <a:prstGeom prst="roundRect">
            <a:avLst>
              <a:gd name="adj" fmla="val 3333"/>
            </a:avLst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8F"/>
                </a:solidFill>
                <a:latin typeface="Calisto MT" panose="02040603050505030304" pitchFamily="18" charset="0"/>
                <a:ea typeface="Cambria" pitchFamily="34" charset="-122"/>
                <a:cs typeface="Cambria" pitchFamily="34" charset="-120"/>
              </a:rPr>
              <a:t>Classical Methods</a:t>
            </a:r>
            <a:endParaRPr lang="en-US" sz="1400" dirty="0">
              <a:latin typeface="Calisto MT" panose="0204060305050503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3566160" cy="26517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r>
              <a:rPr lang="en-US" sz="1200" b="1" dirty="0">
                <a:solidFill>
                  <a:srgbClr val="0D1B4B"/>
                </a:solidFill>
                <a:latin typeface="Calisto MT" panose="02040603050505030304" pitchFamily="18" charset="0"/>
              </a:rPr>
              <a:t>Sobel (1968) : </a:t>
            </a:r>
            <a:r>
              <a:rPr lang="en-I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Calisto MT" panose="02040603050505030304" pitchFamily="18" charset="0"/>
              </a:rPr>
              <a:t>uses two 3×3 convolution kernels — one for horizontal gradients and one for vertical gradients. Wherever the gradient is large, there is likely an edge.</a:t>
            </a:r>
            <a:r>
              <a:rPr lang="en-US" sz="1200" dirty="0">
                <a:solidFill>
                  <a:srgbClr val="64748B"/>
                </a:solidFill>
                <a:latin typeface="Calisto MT" panose="02040603050505030304" pitchFamily="18" charset="0"/>
              </a:rPr>
              <a:t>
</a:t>
            </a:r>
            <a:endParaRPr lang="en-US" sz="1200" dirty="0">
              <a:latin typeface="Calisto MT" panose="02040603050505030304" pitchFamily="18" charset="0"/>
            </a:endParaRPr>
          </a:p>
          <a:p>
            <a:r>
              <a:rPr lang="en-US" sz="1200" b="1" dirty="0">
                <a:solidFill>
                  <a:srgbClr val="0D1B4B"/>
                </a:solidFill>
                <a:latin typeface="Calisto MT" panose="02040603050505030304" pitchFamily="18" charset="0"/>
              </a:rPr>
              <a:t>Prewitt (1970) : </a:t>
            </a:r>
            <a:r>
              <a:rPr lang="en-I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Calisto MT" panose="02040603050505030304" pitchFamily="18" charset="0"/>
              </a:rPr>
              <a:t>similar to Sobel but uses uniform weights in the kernel.</a:t>
            </a:r>
            <a:r>
              <a:rPr lang="en-US" sz="1200" dirty="0">
                <a:solidFill>
                  <a:srgbClr val="64748B"/>
                </a:solidFill>
                <a:latin typeface="Calisto MT" panose="02040603050505030304" pitchFamily="18" charset="0"/>
              </a:rPr>
              <a:t>
</a:t>
            </a:r>
            <a:endParaRPr lang="en-US" sz="1200" dirty="0">
              <a:latin typeface="Calisto MT" panose="02040603050505030304" pitchFamily="18" charset="0"/>
            </a:endParaRPr>
          </a:p>
          <a:p>
            <a:r>
              <a:rPr lang="en-US" sz="1200" b="1" dirty="0">
                <a:solidFill>
                  <a:srgbClr val="0D1B4B"/>
                </a:solidFill>
                <a:latin typeface="Calisto MT" panose="02040603050505030304" pitchFamily="18" charset="0"/>
              </a:rPr>
              <a:t>Kirsch (1971) : </a:t>
            </a:r>
            <a:r>
              <a:rPr lang="en-I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Calisto MT" panose="02040603050505030304" pitchFamily="18" charset="0"/>
              </a:rPr>
              <a:t>compute gradients in all 8 compass directions and take the maximum, giving better directional sensitivity.</a:t>
            </a:r>
            <a:r>
              <a:rPr lang="en-US" sz="1200" dirty="0">
                <a:solidFill>
                  <a:srgbClr val="64748B"/>
                </a:solidFill>
                <a:latin typeface="Calisto MT" panose="02040603050505030304" pitchFamily="18" charset="0"/>
              </a:rPr>
              <a:t>
</a:t>
            </a:r>
            <a:endParaRPr lang="en-US" sz="1200" dirty="0">
              <a:latin typeface="Calisto MT" panose="02040603050505030304" pitchFamily="18" charset="0"/>
            </a:endParaRPr>
          </a:p>
          <a:p>
            <a:r>
              <a:rPr lang="en-US" sz="1200" b="1" dirty="0">
                <a:solidFill>
                  <a:srgbClr val="0D1B4B"/>
                </a:solidFill>
                <a:latin typeface="Calisto MT" panose="02040603050505030304" pitchFamily="18" charset="0"/>
              </a:rPr>
              <a:t>Canny (1986) : </a:t>
            </a:r>
            <a:r>
              <a:rPr lang="en-I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Calisto MT" panose="02040603050505030304" pitchFamily="18" charset="0"/>
              </a:rPr>
              <a:t>It has four steps — first it applies Gaussian smoothing to remove noise, then computes gradient magnitude and direction, then applies non-maximum suppression to thin the edges to single pixel width, and finally applies double thresholding with hysteresis to decide which edges are real and which are noise.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Calisto MT" panose="0204060305050503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4206240" cy="3291840"/>
          </a:xfrm>
          <a:prstGeom prst="roundRect">
            <a:avLst>
              <a:gd name="adj" fmla="val 3333"/>
            </a:avLst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66344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sto MT" panose="02040603050505030304" pitchFamily="18" charset="0"/>
                <a:ea typeface="Cambria" pitchFamily="34" charset="-122"/>
                <a:cs typeface="Cambria" pitchFamily="34" charset="-120"/>
              </a:rPr>
              <a:t>Key Limitations</a:t>
            </a:r>
            <a:endParaRPr lang="en-US" sz="1400" dirty="0">
              <a:latin typeface="Calisto MT" panose="0204060305050503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663440" y="1371600"/>
            <a:ext cx="3931920" cy="26517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D1B4B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Time complexity O(N) — slow for high-resolution images</a:t>
            </a:r>
          </a:p>
          <a:p>
            <a:pPr>
              <a:buSzPct val="100000"/>
            </a:pPr>
            <a:endParaRPr lang="en-US" sz="1300" dirty="0">
              <a:latin typeface="Calisto MT" panose="0204060305050503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4B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Noise sensitivity — require careful Gaussian sigma tuning</a:t>
            </a:r>
          </a:p>
          <a:p>
            <a:pPr>
              <a:buSzPct val="100000"/>
            </a:pPr>
            <a:endParaRPr lang="en-US" sz="1300" dirty="0">
              <a:latin typeface="Calisto MT" panose="0204060305050503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4B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Fixed thresholds — cannot adapt to varying lighting</a:t>
            </a:r>
          </a:p>
          <a:p>
            <a:pPr>
              <a:buSzPct val="100000"/>
            </a:pPr>
            <a:endParaRPr lang="en-US" sz="1300" dirty="0">
              <a:latin typeface="Calisto MT" panose="0204060305050503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4B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Sequential per-pixel processing — no parallelism</a:t>
            </a:r>
          </a:p>
          <a:p>
            <a:pPr>
              <a:buSzPct val="100000"/>
            </a:pPr>
            <a:endParaRPr lang="en-US" sz="1300" dirty="0">
              <a:latin typeface="Calisto MT" panose="0204060305050503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4B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No quantum speedup — fundamentally classical</a:t>
            </a:r>
            <a:endParaRPr lang="en-US" sz="1300" dirty="0">
              <a:latin typeface="Calisto MT" panose="0204060305050503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20116" y="4453645"/>
            <a:ext cx="43618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sto MT" panose="02040603050505030304" pitchFamily="18" charset="0"/>
              </a:rPr>
              <a:t>All classical methods scale linearly with image size — a fundamental bottleneck.</a:t>
            </a:r>
            <a:endParaRPr lang="en-US" sz="1100" dirty="0">
              <a:latin typeface="Calisto MT" panose="0204060305050503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sto MT" panose="02040603050505030304" pitchFamily="18" charset="0"/>
                <a:ea typeface="Cambria" pitchFamily="34" charset="-122"/>
                <a:cs typeface="Cambria" pitchFamily="34" charset="-120"/>
              </a:rPr>
              <a:t>Why Quantum Computing for Edge Detection?</a:t>
            </a:r>
            <a:endParaRPr lang="en-US" sz="2600" dirty="0">
              <a:latin typeface="Calisto MT" panose="0204060305050503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1E3A6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sto MT" panose="02040603050505030304" pitchFamily="18" charset="0"/>
                <a:ea typeface="Cambria" pitchFamily="34" charset="-122"/>
                <a:cs typeface="Cambria" pitchFamily="34" charset="-120"/>
              </a:rPr>
              <a:t>⚛  Superposition</a:t>
            </a:r>
            <a:endParaRPr lang="en-US" sz="1500" dirty="0">
              <a:latin typeface="Calisto MT" panose="0204060305050503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A qubit can be 0 AND 1 simultaneously. A quantum circuit processes all N pixels in parallel — not one by one.</a:t>
            </a:r>
            <a:endParaRPr lang="en-US" sz="1150" dirty="0">
              <a:latin typeface="Calisto MT" panose="0204060305050503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1A3356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937760" y="10515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sto MT" panose="02040603050505030304" pitchFamily="18" charset="0"/>
                <a:ea typeface="Cambria" pitchFamily="34" charset="-122"/>
                <a:cs typeface="Cambria" pitchFamily="34" charset="-120"/>
              </a:rPr>
              <a:t>🔗  Entanglement</a:t>
            </a:r>
            <a:endParaRPr lang="en-US" sz="1500" dirty="0">
              <a:latin typeface="Calisto MT" panose="0204060305050503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937760" y="146304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Qubits can share correlated states. Operations on one qubit instantly affect its partner — enabling global image operations.</a:t>
            </a:r>
            <a:endParaRPr lang="en-US" sz="1150" dirty="0">
              <a:latin typeface="Calisto MT" panose="0204060305050503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5760" y="2880360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1E3A6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29718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sto MT" panose="02040603050505030304" pitchFamily="18" charset="0"/>
                <a:ea typeface="Cambria" pitchFamily="34" charset="-122"/>
                <a:cs typeface="Cambria" pitchFamily="34" charset="-120"/>
              </a:rPr>
              <a:t>📐  Quantum Parallelism</a:t>
            </a:r>
            <a:endParaRPr lang="en-US" sz="1500" dirty="0">
              <a:latin typeface="Calisto MT" panose="0204060305050503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8640" y="338328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Grover's search finds a marked item in O(√N) steps vs O(N) classically — a quadratic speedup for edge search.</a:t>
            </a:r>
            <a:endParaRPr lang="en-US" sz="1150" dirty="0">
              <a:latin typeface="Calisto MT" panose="0204060305050503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754880" y="2880360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1A3356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937760" y="29718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sto MT" panose="02040603050505030304" pitchFamily="18" charset="0"/>
                <a:ea typeface="Cambria" pitchFamily="34" charset="-122"/>
                <a:cs typeface="Cambria" pitchFamily="34" charset="-120"/>
              </a:rPr>
              <a:t>🎯  Amplitude Amplification</a:t>
            </a:r>
            <a:endParaRPr lang="en-US" sz="1500" dirty="0">
              <a:latin typeface="Calisto MT" panose="0204060305050503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937760" y="338328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200" dirty="0">
                <a:solidFill>
                  <a:schemeClr val="bg1">
                    <a:lumMod val="85000"/>
                  </a:schemeClr>
                </a:solidFill>
                <a:latin typeface="Calisto MT" panose="02040603050505030304" pitchFamily="18" charset="0"/>
              </a:rPr>
              <a:t>the probability of measuring a particular outcome is related to the square of the amplitude of that state. Quantum algorithms can deliberately increase the amplitude at desired states</a:t>
            </a:r>
            <a:endParaRPr lang="en-US" sz="1150" dirty="0">
              <a:solidFill>
                <a:schemeClr val="bg1">
                  <a:lumMod val="85000"/>
                </a:schemeClr>
              </a:solidFill>
              <a:latin typeface="Calisto MT" panose="0204060305050503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86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1B4B"/>
                </a:solidFill>
                <a:latin typeface="Calisto MT" panose="02040603050505030304" pitchFamily="18" charset="0"/>
                <a:ea typeface="Cambria" pitchFamily="34" charset="-122"/>
                <a:cs typeface="Cambria" pitchFamily="34" charset="-120"/>
              </a:rPr>
              <a:t>Existing Quantum Edge Detection — The Core Problem</a:t>
            </a:r>
            <a:endParaRPr lang="en-US" sz="2400" dirty="0">
              <a:latin typeface="Calisto MT" panose="0204060305050503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620433"/>
            <a:ext cx="82296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9548834"/>
              </p:ext>
            </p:extLst>
          </p:nvPr>
        </p:nvGraphicFramePr>
        <p:xfrm>
          <a:off x="365760" y="765566"/>
          <a:ext cx="8412480" cy="357835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sto MT" panose="02040603050505030304" pitchFamily="18" charset="0"/>
                          <a:ea typeface="Cambria" pitchFamily="34" charset="-122"/>
                          <a:cs typeface="Cambria" pitchFamily="34" charset="-120"/>
                        </a:rPr>
                        <a:t>Method</a:t>
                      </a:r>
                      <a:endParaRPr lang="en-US" sz="1300" dirty="0">
                        <a:latin typeface="Calisto MT" panose="02040603050505030304" pitchFamily="18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sto MT" panose="02040603050505030304" pitchFamily="18" charset="0"/>
                          <a:ea typeface="Cambria" pitchFamily="34" charset="-122"/>
                          <a:cs typeface="Cambria" pitchFamily="34" charset="-120"/>
                        </a:rPr>
                        <a:t>Approach</a:t>
                      </a:r>
                      <a:endParaRPr lang="en-US" sz="1300" dirty="0">
                        <a:latin typeface="Calisto MT" panose="02040603050505030304" pitchFamily="18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sto MT" panose="02040603050505030304" pitchFamily="18" charset="0"/>
                          <a:ea typeface="Cambria" pitchFamily="34" charset="-122"/>
                          <a:cs typeface="Cambria" pitchFamily="34" charset="-120"/>
                        </a:rPr>
                        <a:t>Success Probability</a:t>
                      </a:r>
                      <a:endParaRPr lang="en-US" sz="1300" dirty="0">
                        <a:latin typeface="Calisto MT" panose="02040603050505030304" pitchFamily="18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sto MT" panose="02040603050505030304" pitchFamily="18" charset="0"/>
                          <a:ea typeface="Cambria" pitchFamily="34" charset="-122"/>
                          <a:cs typeface="Cambria" pitchFamily="34" charset="-120"/>
                        </a:rPr>
                        <a:t>Problem</a:t>
                      </a:r>
                      <a:endParaRPr lang="en-US" sz="1300" dirty="0">
                        <a:latin typeface="Calisto MT" panose="02040603050505030304" pitchFamily="18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1B4B"/>
                          </a:solidFill>
                          <a:latin typeface="Calisto MT" panose="02040603050505030304" pitchFamily="18" charset="0"/>
                        </a:rPr>
                        <a:t>QSobel</a:t>
                      </a:r>
                      <a:endParaRPr lang="en-US" sz="12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sto MT" panose="02040603050505030304" pitchFamily="18" charset="0"/>
                        </a:rPr>
                        <a:t>It encodes pixel intensities into a quantum representation called FRQI and applies quantum circuits to compute gradients.</a:t>
                      </a:r>
                    </a:p>
                    <a:p>
                      <a:pPr marL="0" indent="0">
                        <a:buNone/>
                      </a:pPr>
                      <a:endParaRPr lang="en-US" sz="11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sto MT" panose="02040603050505030304" pitchFamily="18" charset="0"/>
                        </a:rPr>
                        <a:t>pq ≈ 0.0095</a:t>
                      </a:r>
                      <a:endParaRPr lang="en-US" sz="12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sto MT" panose="02040603050505030304" pitchFamily="18" charset="0"/>
                        </a:rPr>
                        <a:t>Extremely low — dominated by background noise</a:t>
                      </a:r>
                      <a:endParaRPr lang="en-US" sz="11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1B4B"/>
                          </a:solidFill>
                          <a:latin typeface="Calisto MT" panose="02040603050505030304" pitchFamily="18" charset="0"/>
                        </a:rPr>
                        <a:t>HED</a:t>
                      </a:r>
                      <a:endParaRPr lang="en-US" sz="12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sto MT" panose="02040603050505030304" pitchFamily="18" charset="0"/>
                        </a:rPr>
                        <a:t>Uses a Hadamard gate on pixel amplitudes to compute differences between adjacent pixels.</a:t>
                      </a:r>
                    </a:p>
                    <a:p>
                      <a:pPr marL="0" indent="0">
                        <a:buNone/>
                      </a:pPr>
                      <a:endParaRPr lang="en-US" sz="11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sto MT" panose="02040603050505030304" pitchFamily="18" charset="0"/>
                        </a:rPr>
                        <a:t>ph ≤ 0.0031</a:t>
                      </a:r>
                      <a:endParaRPr lang="en-US" sz="12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sto MT" panose="02040603050505030304" pitchFamily="18" charset="0"/>
                        </a:rPr>
                        <a:t>Discards &gt;50% probability mass on non-edges</a:t>
                      </a:r>
                      <a:endParaRPr lang="en-US" sz="11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sto MT" panose="02040603050505030304" pitchFamily="18" charset="0"/>
                        </a:rPr>
                        <a:t>Giri et al. 2025 ✓</a:t>
                      </a:r>
                      <a:endParaRPr lang="en-US" sz="12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sto MT" panose="02040603050505030304" pitchFamily="18" charset="0"/>
                        </a:rPr>
                        <a:t>They proposed a completely different approach — treating edge detection as a quantum search problem using a lackadaisical discrete-time quantum walk</a:t>
                      </a:r>
                      <a:endParaRPr lang="en-US" sz="11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sto MT" panose="02040603050505030304" pitchFamily="18" charset="0"/>
                        </a:rPr>
                        <a:t>ps ≈ 0.98</a:t>
                      </a:r>
                      <a:endParaRPr lang="en-US" sz="12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sto MT" panose="02040603050505030304" pitchFamily="18" charset="0"/>
                        </a:rPr>
                        <a:t>High — but oracle &amp; post-processing undefined</a:t>
                      </a:r>
                      <a:endParaRPr lang="en-US" sz="11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13630"/>
            <a:ext cx="7661505" cy="486383"/>
          </a:xfrm>
          <a:prstGeom prst="roundRect">
            <a:avLst>
              <a:gd name="adj" fmla="val 12000"/>
            </a:avLst>
          </a:prstGeom>
          <a:solidFill>
            <a:srgbClr val="FEF9C3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548640" y="4359280"/>
            <a:ext cx="8046720" cy="777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2400E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⚠  Key gaps in Giri et al.: (1) Only 4-direction gradient oracle — misses diagonal edges.  (2) Post-processing threshold never specified — not reproducible.</a:t>
            </a:r>
            <a:endParaRPr lang="en-US" sz="1250" dirty="0">
              <a:latin typeface="Calisto MT" panose="0204060305050503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4B"/>
                </a:solidFill>
                <a:latin typeface="Calisto MT" panose="02040603050505030304" pitchFamily="18" charset="0"/>
                <a:ea typeface="Cambria" pitchFamily="34" charset="-122"/>
                <a:cs typeface="Cambria" pitchFamily="34" charset="-120"/>
              </a:rPr>
              <a:t>Baseline: Lackadaisical DTQWS (Giri et al. 2025)</a:t>
            </a:r>
            <a:endParaRPr lang="en-US" sz="2600" dirty="0">
              <a:latin typeface="Calisto MT" panose="0204060305050503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754880" cy="3200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4B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Place each pixel at a vertex of an N₁ × N₂ lattice with 4 directed edges + 1 self-loop (weight s).</a:t>
            </a:r>
          </a:p>
          <a:p>
            <a:pPr>
              <a:buSzPct val="100000"/>
            </a:pPr>
            <a:endParaRPr lang="en-US" sz="1300" dirty="0">
              <a:latin typeface="Calisto MT" panose="0204060305050503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4B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Mark edge pixels: pixels where gradient ≥ threshold ath form the set T_M.</a:t>
            </a:r>
          </a:p>
          <a:p>
            <a:pPr>
              <a:buSzPct val="100000"/>
            </a:pPr>
            <a:endParaRPr lang="en-US" sz="1300" dirty="0">
              <a:latin typeface="Calisto MT" panose="0204060305050503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4B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Start quantum walk from uniform superposition |ψ_in⟩ over all N vertices.</a:t>
            </a:r>
          </a:p>
          <a:p>
            <a:pPr>
              <a:buSzPct val="100000"/>
            </a:pPr>
            <a:endParaRPr lang="en-US" sz="1300" dirty="0">
              <a:latin typeface="Calisto MT" panose="0204060305050503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4B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Apply evolution U = S · C_G repeatedly: C_G flips the self-loop phase at marked vertices; S moves the walker.</a:t>
            </a:r>
          </a:p>
          <a:p>
            <a:pPr>
              <a:buSzPct val="100000"/>
            </a:pPr>
            <a:endParaRPr lang="en-US" sz="1300" dirty="0">
              <a:latin typeface="Calisto MT" panose="0204060305050503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4B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After T iterations, measure — probability concentrates at edge pixels: p_s ≈ 0.98.</a:t>
            </a:r>
            <a:endParaRPr lang="en-US" sz="1300" dirty="0">
              <a:latin typeface="Calisto MT" panose="0204060305050503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303520" y="1005840"/>
            <a:ext cx="3474720" cy="6858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303520" y="10058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B4B"/>
                </a:solidFill>
                <a:latin typeface="Calisto MT" panose="02040603050505030304" pitchFamily="18" charset="0"/>
              </a:rPr>
              <a:t>Image</a:t>
            </a:r>
            <a:endParaRPr lang="en-US" sz="1150" dirty="0">
              <a:latin typeface="Calisto MT" panose="02040603050505030304" pitchFamily="18" charset="0"/>
            </a:endParaRPr>
          </a:p>
          <a:p>
            <a:pPr marL="0" indent="0" algn="ctr">
              <a:buNone/>
            </a:pPr>
            <a:r>
              <a:rPr lang="en-US" sz="1150" b="1" dirty="0">
                <a:solidFill>
                  <a:srgbClr val="0D1B4B"/>
                </a:solidFill>
                <a:latin typeface="Calisto MT" panose="02040603050505030304" pitchFamily="18" charset="0"/>
              </a:rPr>
              <a:t>Pixels</a:t>
            </a:r>
            <a:endParaRPr lang="en-US" sz="1150" dirty="0">
              <a:latin typeface="Calisto MT" panose="0204060305050503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675120" y="1691640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8F"/>
                </a:solidFill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0" y="1810512"/>
            <a:ext cx="3474720" cy="685800"/>
          </a:xfrm>
          <a:prstGeom prst="roundRect">
            <a:avLst>
              <a:gd name="adj" fmla="val 16000"/>
            </a:avLst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303520" y="181051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B4B"/>
                </a:solidFill>
                <a:latin typeface="Calisto MT" panose="02040603050505030304" pitchFamily="18" charset="0"/>
              </a:rPr>
              <a:t>Mark</a:t>
            </a:r>
            <a:endParaRPr lang="en-US" sz="1150" dirty="0">
              <a:latin typeface="Calisto MT" panose="02040603050505030304" pitchFamily="18" charset="0"/>
            </a:endParaRPr>
          </a:p>
          <a:p>
            <a:pPr marL="0" indent="0" algn="ctr">
              <a:buNone/>
            </a:pPr>
            <a:r>
              <a:rPr lang="en-US" sz="1150" b="1" dirty="0">
                <a:solidFill>
                  <a:srgbClr val="0D1B4B"/>
                </a:solidFill>
                <a:latin typeface="Calisto MT" panose="02040603050505030304" pitchFamily="18" charset="0"/>
              </a:rPr>
              <a:t>Edges</a:t>
            </a:r>
            <a:endParaRPr lang="en-US" sz="1150" dirty="0">
              <a:latin typeface="Calisto MT" panose="02040603050505030304" pitchFamily="18" charset="0"/>
            </a:endParaRPr>
          </a:p>
          <a:p>
            <a:pPr marL="0" indent="0" algn="ctr">
              <a:buNone/>
            </a:pPr>
            <a:r>
              <a:rPr lang="en-US" sz="1150" b="1" dirty="0">
                <a:solidFill>
                  <a:srgbClr val="0D1B4B"/>
                </a:solidFill>
                <a:latin typeface="Calisto MT" panose="02040603050505030304" pitchFamily="18" charset="0"/>
              </a:rPr>
              <a:t>(T_M)</a:t>
            </a:r>
            <a:endParaRPr lang="en-US" sz="1150" dirty="0">
              <a:latin typeface="Calisto MT" panose="0204060305050503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675120" y="2496312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8F"/>
                </a:solidFill>
              </a:rPr>
              <a:t>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0" y="2615184"/>
            <a:ext cx="3474720" cy="685800"/>
          </a:xfrm>
          <a:prstGeom prst="roundRect">
            <a:avLst>
              <a:gd name="adj" fmla="val 16000"/>
            </a:avLst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303520" y="2615184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B4B"/>
                </a:solidFill>
                <a:latin typeface="Calisto MT" panose="02040603050505030304" pitchFamily="18" charset="0"/>
              </a:rPr>
              <a:t>Initial</a:t>
            </a:r>
            <a:endParaRPr lang="en-US" sz="1150" dirty="0">
              <a:latin typeface="Calisto MT" panose="02040603050505030304" pitchFamily="18" charset="0"/>
            </a:endParaRPr>
          </a:p>
          <a:p>
            <a:pPr marL="0" indent="0" algn="ctr">
              <a:buNone/>
            </a:pPr>
            <a:r>
              <a:rPr lang="en-US" sz="1150" b="1" dirty="0">
                <a:solidFill>
                  <a:srgbClr val="0D1B4B"/>
                </a:solidFill>
                <a:latin typeface="Calisto MT" panose="02040603050505030304" pitchFamily="18" charset="0"/>
              </a:rPr>
              <a:t>State</a:t>
            </a:r>
            <a:endParaRPr lang="en-US" sz="1150" dirty="0">
              <a:latin typeface="Calisto MT" panose="02040603050505030304" pitchFamily="18" charset="0"/>
            </a:endParaRPr>
          </a:p>
          <a:p>
            <a:pPr marL="0" indent="0" algn="ctr">
              <a:buNone/>
            </a:pPr>
            <a:r>
              <a:rPr lang="en-US" sz="1150" b="1" dirty="0">
                <a:solidFill>
                  <a:srgbClr val="0D1B4B"/>
                </a:solidFill>
                <a:latin typeface="Calisto MT" panose="02040603050505030304" pitchFamily="18" charset="0"/>
              </a:rPr>
              <a:t>|ψ_in⟩</a:t>
            </a:r>
            <a:endParaRPr lang="en-US" sz="1150" dirty="0">
              <a:latin typeface="Calisto MT" panose="0204060305050503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675120" y="3300984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8F"/>
                </a:solidFill>
              </a:rPr>
              <a:t>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03520" y="3419856"/>
            <a:ext cx="3474720" cy="685800"/>
          </a:xfrm>
          <a:prstGeom prst="roundRect">
            <a:avLst>
              <a:gd name="adj" fmla="val 16000"/>
            </a:avLst>
          </a:prstGeom>
          <a:solidFill>
            <a:srgbClr val="EDE9FE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303520" y="3419856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B4B"/>
                </a:solidFill>
                <a:latin typeface="Calisto MT" panose="02040603050505030304" pitchFamily="18" charset="0"/>
              </a:rPr>
              <a:t>Apply U</a:t>
            </a:r>
            <a:endParaRPr lang="en-US" sz="1150" dirty="0">
              <a:latin typeface="Calisto MT" panose="02040603050505030304" pitchFamily="18" charset="0"/>
            </a:endParaRPr>
          </a:p>
          <a:p>
            <a:pPr marL="0" indent="0" algn="ctr">
              <a:buNone/>
            </a:pPr>
            <a:r>
              <a:rPr lang="en-US" sz="1150" b="1" dirty="0">
                <a:solidFill>
                  <a:srgbClr val="0D1B4B"/>
                </a:solidFill>
                <a:latin typeface="Calisto MT" panose="02040603050505030304" pitchFamily="18" charset="0"/>
              </a:rPr>
              <a:t>t times</a:t>
            </a:r>
            <a:endParaRPr lang="en-US" sz="1150" dirty="0">
              <a:latin typeface="Calisto MT" panose="0204060305050503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675120" y="4105656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8F"/>
                </a:solidFill>
              </a:rPr>
              <a:t>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03520" y="4224528"/>
            <a:ext cx="3474720" cy="685800"/>
          </a:xfrm>
          <a:prstGeom prst="roundRect">
            <a:avLst>
              <a:gd name="adj" fmla="val 16000"/>
            </a:avLst>
          </a:prstGeom>
          <a:solidFill>
            <a:srgbClr val="FEF9C3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303520" y="422452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B4B"/>
                </a:solidFill>
                <a:latin typeface="Calisto MT" panose="02040603050505030304" pitchFamily="18" charset="0"/>
              </a:rPr>
              <a:t>Measure</a:t>
            </a:r>
            <a:endParaRPr lang="en-US" sz="1150" dirty="0">
              <a:latin typeface="Calisto MT" panose="02040603050505030304" pitchFamily="18" charset="0"/>
            </a:endParaRPr>
          </a:p>
          <a:p>
            <a:pPr marL="0" indent="0" algn="ctr">
              <a:buNone/>
            </a:pPr>
            <a:r>
              <a:rPr lang="en-US" sz="1150" b="1" dirty="0">
                <a:solidFill>
                  <a:srgbClr val="0D1B4B"/>
                </a:solidFill>
                <a:latin typeface="Calisto MT" panose="02040603050505030304" pitchFamily="18" charset="0"/>
              </a:rPr>
              <a:t>Edges</a:t>
            </a:r>
            <a:endParaRPr lang="en-US" sz="1150" dirty="0">
              <a:latin typeface="Calisto MT" panose="0204060305050503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65760" y="44348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1" dirty="0">
                <a:solidFill>
                  <a:srgbClr val="1A3A8F"/>
                </a:solidFill>
                <a:latin typeface="Calisto MT" panose="02040603050505030304" pitchFamily="18" charset="0"/>
              </a:rPr>
              <a:t>ps ≈ 0.98  |  beats QSobel (0.0095) and HED (0.0031) dramatically</a:t>
            </a:r>
            <a:endParaRPr lang="en-US" sz="1150" dirty="0">
              <a:latin typeface="Calisto MT" panose="0204060305050503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1B4B"/>
                </a:solidFill>
                <a:latin typeface="Calisto MT" panose="02040603050505030304" pitchFamily="18" charset="0"/>
                <a:ea typeface="Cambria" pitchFamily="34" charset="-122"/>
                <a:cs typeface="Cambria" pitchFamily="34" charset="-120"/>
              </a:rPr>
              <a:t>Contribution 1: Six-Direction Diagonal Gradient Extension</a:t>
            </a:r>
            <a:endParaRPr lang="en-US" sz="2400" dirty="0">
              <a:latin typeface="Calisto MT" panose="0204060305050503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sto MT" panose="02040603050505030304" pitchFamily="18" charset="0"/>
                <a:ea typeface="Cambria" pitchFamily="34" charset="-122"/>
                <a:cs typeface="Cambria" pitchFamily="34" charset="-120"/>
              </a:rPr>
              <a:t>The Problem with 4 Directions:</a:t>
            </a:r>
            <a:endParaRPr lang="en-US" sz="1300" dirty="0">
              <a:latin typeface="Calisto MT" panose="0204060305050503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4572000" cy="13716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4B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Original oracle checks only: right, left, up, down.</a:t>
            </a:r>
          </a:p>
          <a:p>
            <a:pPr>
              <a:buSzPct val="100000"/>
            </a:pPr>
            <a:endParaRPr lang="en-US" sz="1300" dirty="0">
              <a:latin typeface="Calisto MT" panose="0204060305050503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4B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Diagonal edges (45° or 135°) produce ZERO horizontal or vertical gradient.</a:t>
            </a:r>
          </a:p>
          <a:p>
            <a:pPr>
              <a:buSzPct val="100000"/>
            </a:pPr>
            <a:endParaRPr lang="en-US" sz="1300" dirty="0">
              <a:latin typeface="Calisto MT" panose="0204060305050503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4B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Such pixels are never marked → never detected.</a:t>
            </a:r>
            <a:endParaRPr lang="en-US" sz="1300" dirty="0">
              <a:latin typeface="Calisto MT" panose="0204060305050503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27432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6534"/>
                </a:solidFill>
                <a:latin typeface="Calisto MT" panose="02040603050505030304" pitchFamily="18" charset="0"/>
                <a:ea typeface="Cambria" pitchFamily="34" charset="-122"/>
                <a:cs typeface="Cambria" pitchFamily="34" charset="-120"/>
              </a:rPr>
              <a:t>Our Fix — Extended Oracle (Eq. 3*):</a:t>
            </a:r>
            <a:endParaRPr lang="en-US" sz="1300" dirty="0">
              <a:latin typeface="Calisto MT" panose="0204060305050503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3108960"/>
            <a:ext cx="4572000" cy="1645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4B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Add ↘ (lower-right):  I(x,y) − I(x+1, y+1)</a:t>
            </a:r>
          </a:p>
          <a:p>
            <a:pPr>
              <a:buSzPct val="100000"/>
            </a:pPr>
            <a:endParaRPr lang="en-US" sz="1300" dirty="0">
              <a:latin typeface="Calisto MT" panose="0204060305050503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4B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Add ↙ (lower-left):    I(x,y) − I(x+1, y−1)</a:t>
            </a:r>
          </a:p>
          <a:p>
            <a:pPr>
              <a:buSzPct val="100000"/>
            </a:pPr>
            <a:endParaRPr lang="en-US" sz="1300" dirty="0">
              <a:latin typeface="Calisto MT" panose="0204060305050503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4B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G_max = max over 6 directions.</a:t>
            </a:r>
          </a:p>
          <a:p>
            <a:pPr>
              <a:buSzPct val="100000"/>
            </a:pPr>
            <a:endParaRPr lang="en-US" sz="1300" dirty="0">
              <a:latin typeface="Calisto MT" panose="0204060305050503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4B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T_M⁽⁶⁾ ⊇ T_M⁽⁴⁾ — more edges marked, recall increases.</a:t>
            </a:r>
            <a:endParaRPr lang="en-US" sz="1300" dirty="0">
              <a:latin typeface="Calisto MT" panose="0204060305050503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120640" y="960120"/>
            <a:ext cx="3657600" cy="3794760"/>
          </a:xfrm>
          <a:prstGeom prst="roundRect">
            <a:avLst>
              <a:gd name="adj" fmla="val 3000"/>
            </a:avLst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212080" y="9845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A8F"/>
                </a:solidFill>
                <a:latin typeface="Calisto MT" panose="02040603050505030304" pitchFamily="18" charset="0"/>
              </a:rPr>
              <a:t>Gradient Direction Diagram</a:t>
            </a:r>
            <a:endParaRPr lang="en-US" sz="1200" dirty="0">
              <a:latin typeface="Calisto MT" panose="0204060305050503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634607" y="1905356"/>
            <a:ext cx="548640" cy="548640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896271" y="1593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0000"/>
                </a:solidFill>
              </a:rPr>
              <a:t>P</a:t>
            </a:r>
            <a:endParaRPr lang="en-US" sz="1300" dirty="0">
              <a:solidFill>
                <a:srgbClr val="FF0000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003860" y="2148840"/>
            <a:ext cx="1777042" cy="11695"/>
          </a:xfrm>
          <a:prstGeom prst="line">
            <a:avLst/>
          </a:prstGeom>
          <a:noFill/>
          <a:ln w="25400">
            <a:solidFill>
              <a:srgbClr val="1A3A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826622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A8F"/>
                </a:solidFill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92240" y="2011680"/>
            <a:ext cx="0" cy="0"/>
          </a:xfrm>
          <a:prstGeom prst="line">
            <a:avLst/>
          </a:prstGeom>
          <a:noFill/>
          <a:ln w="25400">
            <a:solidFill>
              <a:srgbClr val="1A3A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677782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A8F"/>
                </a:solidFill>
              </a:rPr>
              <a:t>←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66560" y="2011680"/>
            <a:ext cx="0" cy="0"/>
          </a:xfrm>
          <a:prstGeom prst="line">
            <a:avLst/>
          </a:prstGeom>
          <a:noFill/>
          <a:ln w="25400">
            <a:solidFill>
              <a:srgbClr val="1A3A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763368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A8F"/>
                </a:solidFill>
              </a:rPr>
              <a:t>↑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01236" y="1505568"/>
            <a:ext cx="18043" cy="1691640"/>
          </a:xfrm>
          <a:prstGeom prst="line">
            <a:avLst/>
          </a:prstGeom>
          <a:noFill/>
          <a:ln w="25400">
            <a:solidFill>
              <a:srgbClr val="1A3A8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9" name="Text 17"/>
          <p:cNvSpPr/>
          <p:nvPr/>
        </p:nvSpPr>
        <p:spPr>
          <a:xfrm>
            <a:off x="6784634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A8F"/>
                </a:solidFill>
              </a:rPr>
              <a:t>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86542" y="2468880"/>
            <a:ext cx="594360" cy="53872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780902" y="3108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↘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(NEW)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 flipH="1">
            <a:off x="6134982" y="2492270"/>
            <a:ext cx="448761" cy="57097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3" name="Text 21"/>
          <p:cNvSpPr/>
          <p:nvPr/>
        </p:nvSpPr>
        <p:spPr>
          <a:xfrm>
            <a:off x="5586342" y="3108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↙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(NEW)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12080" y="4206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sto MT" panose="02040603050505030304" pitchFamily="18" charset="0"/>
              </a:rPr>
              <a:t>Blue = original 4 directions</a:t>
            </a:r>
            <a:endParaRPr lang="en-US" sz="1000" dirty="0">
              <a:latin typeface="Calisto MT" panose="02040603050505030304" pitchFamily="18" charset="0"/>
            </a:endParaRPr>
          </a:p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sto MT" panose="02040603050505030304" pitchFamily="18" charset="0"/>
              </a:rPr>
              <a:t>Gold = our 2 new diagonal directions</a:t>
            </a:r>
            <a:endParaRPr lang="en-US" sz="1000" dirty="0">
              <a:latin typeface="Calisto MT" panose="0204060305050503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4B"/>
                </a:solidFill>
                <a:latin typeface="Calisto MT" panose="02040603050505030304" pitchFamily="18" charset="0"/>
                <a:ea typeface="Cambria" pitchFamily="34" charset="-122"/>
                <a:cs typeface="Cambria" pitchFamily="34" charset="-120"/>
              </a:rPr>
              <a:t>Ablation Study: Which Diagonal Direction is Best?</a:t>
            </a:r>
            <a:endParaRPr lang="en-US" sz="2600" dirty="0">
              <a:latin typeface="Calisto MT" panose="0204060305050503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4B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We tested 3 variants against the paper's baseline on 20 BSDS500 images:</a:t>
            </a:r>
            <a:endParaRPr lang="en-US" sz="1300" dirty="0">
              <a:latin typeface="Calisto MT" panose="02040603050505030304" pitchFamily="18" charset="0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1717846"/>
              </p:ext>
            </p:extLst>
          </p:nvPr>
        </p:nvGraphicFramePr>
        <p:xfrm>
          <a:off x="365760" y="1325880"/>
          <a:ext cx="8412480" cy="29718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sto MT" panose="02040603050505030304" pitchFamily="18" charset="0"/>
                        </a:rPr>
                        <a:t>Configuration</a:t>
                      </a:r>
                      <a:endParaRPr lang="en-US" sz="13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sto MT" panose="02040603050505030304" pitchFamily="18" charset="0"/>
                        </a:rPr>
                        <a:t>Raw Oracle F1</a:t>
                      </a:r>
                      <a:endParaRPr lang="en-US" sz="13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sto MT" panose="02040603050505030304" pitchFamily="18" charset="0"/>
                        </a:rPr>
                        <a:t>Otsu Oracle F1</a:t>
                      </a:r>
                      <a:endParaRPr lang="en-US" sz="13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sto MT" panose="02040603050505030304" pitchFamily="18" charset="0"/>
                        </a:rPr>
                        <a:t>Otsu Quantum F1</a:t>
                      </a:r>
                      <a:endParaRPr lang="en-US" sz="13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4B"/>
                          </a:solidFill>
                          <a:latin typeface="Calisto MT" panose="02040603050505030304" pitchFamily="18" charset="0"/>
                        </a:rPr>
                        <a:t>Paper baseline (4-dir)</a:t>
                      </a:r>
                      <a:endParaRPr lang="en-US" sz="12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sto MT" panose="02040603050505030304" pitchFamily="18" charset="0"/>
                        </a:rPr>
                        <a:t>0.2571</a:t>
                      </a:r>
                      <a:endParaRPr lang="en-US" sz="12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sto MT" panose="02040603050505030304" pitchFamily="18" charset="0"/>
                        </a:rPr>
                        <a:t>0.2554</a:t>
                      </a:r>
                      <a:endParaRPr lang="en-US" sz="12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sto MT" panose="02040603050505030304" pitchFamily="18" charset="0"/>
                        </a:rPr>
                        <a:t>0.2572</a:t>
                      </a:r>
                      <a:endParaRPr lang="en-US" sz="12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4B"/>
                          </a:solidFill>
                          <a:latin typeface="Calisto MT" panose="02040603050505030304" pitchFamily="18" charset="0"/>
                        </a:rPr>
                        <a:t>Upward diagonals (↑→ + ↑←)</a:t>
                      </a:r>
                      <a:endParaRPr lang="en-US" sz="12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Calisto MT" panose="02040603050505030304" pitchFamily="18" charset="0"/>
                        </a:rPr>
                        <a:t>0.2480 ↓</a:t>
                      </a:r>
                      <a:endParaRPr lang="en-US" sz="12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Calisto MT" panose="02040603050505030304" pitchFamily="18" charset="0"/>
                        </a:rPr>
                        <a:t>0.2510 ↓</a:t>
                      </a:r>
                      <a:endParaRPr lang="en-US" sz="12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Calisto MT" panose="02040603050505030304" pitchFamily="18" charset="0"/>
                        </a:rPr>
                        <a:t>0.2484 ↓</a:t>
                      </a:r>
                      <a:endParaRPr lang="en-US" sz="12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4B"/>
                          </a:solidFill>
                          <a:latin typeface="Calisto MT" panose="02040603050505030304" pitchFamily="18" charset="0"/>
                        </a:rPr>
                        <a:t>Full 8-direction (all diag.)</a:t>
                      </a:r>
                      <a:endParaRPr lang="en-US" sz="12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Calisto MT" panose="02040603050505030304" pitchFamily="18" charset="0"/>
                        </a:rPr>
                        <a:t>0.2525 ↓</a:t>
                      </a:r>
                      <a:endParaRPr lang="en-US" sz="12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Calisto MT" panose="02040603050505030304" pitchFamily="18" charset="0"/>
                        </a:rPr>
                        <a:t>0.2632 ↑</a:t>
                      </a:r>
                      <a:endParaRPr lang="en-US" sz="12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Calisto MT" panose="02040603050505030304" pitchFamily="18" charset="0"/>
                        </a:rPr>
                        <a:t>0.2537 ↓</a:t>
                      </a:r>
                      <a:endParaRPr lang="en-US" sz="12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sto MT" panose="02040603050505030304" pitchFamily="18" charset="0"/>
                        </a:rPr>
                        <a:t>✓ Downward diag. (Ours ↘ + ↙)</a:t>
                      </a:r>
                      <a:endParaRPr lang="en-US" sz="12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sto MT" panose="02040603050505030304" pitchFamily="18" charset="0"/>
                        </a:rPr>
                        <a:t>0.2598 ↑</a:t>
                      </a:r>
                      <a:endParaRPr lang="en-US" sz="12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sto MT" panose="02040603050505030304" pitchFamily="18" charset="0"/>
                        </a:rPr>
                        <a:t>0.2664 ↑</a:t>
                      </a:r>
                      <a:endParaRPr lang="en-US" sz="12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sto MT" panose="02040603050505030304" pitchFamily="18" charset="0"/>
                        </a:rPr>
                        <a:t>0.2602 ↑</a:t>
                      </a:r>
                      <a:endParaRPr lang="en-US" sz="12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30319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4B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Only downward diagonals improve ALL 3 metrics simultaneously — due to alignment with BSDS500 ground-truth annotation conventions.</a:t>
            </a:r>
            <a:endParaRPr lang="en-US" sz="1200" dirty="0">
              <a:latin typeface="Calisto MT" panose="0204060305050503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86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1B4B"/>
                </a:solidFill>
                <a:latin typeface="Calisto MT" panose="02040603050505030304" pitchFamily="18" charset="0"/>
                <a:ea typeface="Cambria" pitchFamily="34" charset="-122"/>
                <a:cs typeface="Cambria" pitchFamily="34" charset="-120"/>
              </a:rPr>
              <a:t>Contribution 2: Otsu-Based Probability Map Thresholding</a:t>
            </a:r>
            <a:endParaRPr lang="en-US" sz="2400" dirty="0">
              <a:latin typeface="Calisto MT" panose="0204060305050503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594493"/>
            <a:ext cx="82296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65760" y="804480"/>
            <a:ext cx="4114800" cy="1920240"/>
          </a:xfrm>
          <a:prstGeom prst="roundRect">
            <a:avLst>
              <a:gd name="adj" fmla="val 5714"/>
            </a:avLst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843715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sto MT" panose="02040603050505030304" pitchFamily="18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300" dirty="0">
              <a:latin typeface="Calisto MT" panose="0204060305050503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1209475"/>
            <a:ext cx="384048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4B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After the quantum walk, we get a continuous probability map P(x,y) ∈ [0,1].</a:t>
            </a:r>
            <a:endParaRPr lang="en-US" sz="1300" dirty="0">
              <a:latin typeface="Calisto MT" panose="0204060305050503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4B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Giri et al. mention a threshold but never specify how to choose it.</a:t>
            </a:r>
            <a:endParaRPr lang="en-US" sz="1300" dirty="0">
              <a:latin typeface="Calisto MT" panose="0204060305050503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4B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Top-K selection (uses ground truth count) leaks evaluation data.</a:t>
            </a:r>
            <a:endParaRPr lang="en-US" sz="1300" dirty="0">
              <a:latin typeface="Calisto MT" panose="0204060305050503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2835289"/>
            <a:ext cx="4114800" cy="2138787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27902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6534"/>
                </a:solidFill>
                <a:latin typeface="Calisto MT" panose="02040603050505030304" pitchFamily="18" charset="0"/>
                <a:ea typeface="Cambria" pitchFamily="34" charset="-122"/>
                <a:cs typeface="Cambria" pitchFamily="34" charset="-120"/>
              </a:rPr>
              <a:t>Our Solution — Otsu's Method</a:t>
            </a:r>
            <a:endParaRPr lang="en-US" sz="1300" dirty="0">
              <a:latin typeface="Calisto MT" panose="0204060305050503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3155980"/>
            <a:ext cx="384048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4B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Finds threshold t* that maximizes between-class variance.</a:t>
            </a:r>
            <a:endParaRPr lang="en-US" sz="1300" dirty="0">
              <a:latin typeface="Calisto MT" panose="0204060305050503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4B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Splits P(x,y) into background (non-edge) and foreground (edge).</a:t>
            </a:r>
            <a:endParaRPr lang="en-US" sz="1300" dirty="0">
              <a:latin typeface="Calisto MT" panose="0204060305050503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4B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Entirely data-driven — needs NO ground truth at inference time.</a:t>
            </a:r>
            <a:endParaRPr lang="en-US" sz="1300" dirty="0">
              <a:latin typeface="Calisto MT" panose="0204060305050503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4B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Raises Quantum F1 from 0.2572 → 0.2777 on paper's own method.</a:t>
            </a:r>
            <a:endParaRPr lang="en-US" sz="1300" dirty="0">
              <a:latin typeface="Calisto MT" panose="0204060305050503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63440" y="823935"/>
            <a:ext cx="4114800" cy="3794760"/>
          </a:xfrm>
          <a:prstGeom prst="roundRect">
            <a:avLst>
              <a:gd name="adj" fmla="val 2892"/>
            </a:avLst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54880" y="869655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8F"/>
                </a:solidFill>
                <a:latin typeface="Calisto MT" panose="02040603050505030304" pitchFamily="18" charset="0"/>
                <a:ea typeface="Cambria" pitchFamily="34" charset="-122"/>
                <a:cs typeface="Cambria" pitchFamily="34" charset="-120"/>
              </a:rPr>
              <a:t>Dual Evaluation Protocol</a:t>
            </a:r>
            <a:endParaRPr lang="en-US" sz="1300" dirty="0">
              <a:latin typeface="Calisto MT" panose="0204060305050503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800600" y="1281135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892040" y="1326855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1D95"/>
                </a:solidFill>
                <a:latin typeface="Calisto MT" panose="02040603050505030304" pitchFamily="18" charset="0"/>
              </a:rPr>
              <a:t>Otsu Oracle F1</a:t>
            </a:r>
            <a:endParaRPr lang="en-US" sz="1200" dirty="0">
              <a:latin typeface="Calisto MT" panose="0204060305050503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92040" y="1646895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sto MT" panose="02040603050505030304" pitchFamily="18" charset="0"/>
              </a:rPr>
              <a:t>Apply Otsu to gradient map BEFORE quantum walk.</a:t>
            </a:r>
            <a:endParaRPr lang="en-US" sz="1100" dirty="0">
              <a:latin typeface="Calisto MT" panose="02040603050505030304" pitchFamily="18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sto MT" panose="02040603050505030304" pitchFamily="18" charset="0"/>
              </a:rPr>
              <a:t>→ Measures quality of gradient oracle alone.</a:t>
            </a:r>
            <a:endParaRPr lang="en-US" sz="1100" dirty="0">
              <a:latin typeface="Calisto MT" panose="0204060305050503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92240" y="27049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3A8F"/>
                </a:solidFill>
              </a:rPr>
              <a:t>▼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00600" y="3018495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FEF9C3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92040" y="3064215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  <a:latin typeface="Calisto MT" panose="02040603050505030304" pitchFamily="18" charset="0"/>
              </a:rPr>
              <a:t>Otsu Quantum F1  ← Primary Metric</a:t>
            </a:r>
            <a:endParaRPr lang="en-US" sz="1200" dirty="0">
              <a:latin typeface="Calisto MT" panose="0204060305050503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92040" y="3384255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sto MT" panose="02040603050505030304" pitchFamily="18" charset="0"/>
              </a:rPr>
              <a:t>Apply Otsu to probability map AFTER quantum walk.</a:t>
            </a:r>
            <a:endParaRPr lang="en-US" sz="1100" dirty="0">
              <a:latin typeface="Calisto MT" panose="02040603050505030304" pitchFamily="18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sto MT" panose="02040603050505030304" pitchFamily="18" charset="0"/>
              </a:rPr>
              <a:t>→ Measures full pipeline quality.</a:t>
            </a:r>
            <a:endParaRPr lang="en-US" sz="1100" dirty="0">
              <a:latin typeface="Calisto MT" panose="0204060305050503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4B"/>
                </a:solidFill>
                <a:latin typeface="Calisto MT" panose="02040603050505030304" pitchFamily="18" charset="0"/>
                <a:ea typeface="Cambria" pitchFamily="34" charset="-122"/>
                <a:cs typeface="Cambria" pitchFamily="34" charset="-120"/>
              </a:rPr>
              <a:t>Qiskit Circuit Implementation</a:t>
            </a:r>
            <a:endParaRPr lang="en-US" sz="2600" dirty="0">
              <a:latin typeface="Calisto MT" panose="0204060305050503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15544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4B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Full 2D circuit is infeasible on NISQ hardware — we use 2×2 block decomposition (Giri et al.).</a:t>
            </a:r>
            <a:endParaRPr lang="en-US" sz="1300" dirty="0">
              <a:latin typeface="Calisto MT" panose="0204060305050503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4B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Each 2×2 block → 4-qubit circuit: 2 vertex qubits (q₀, q₁) + 2 coin qubits (q₂, q₃).</a:t>
            </a:r>
            <a:endParaRPr lang="en-US" sz="1300" dirty="0">
              <a:latin typeface="Calisto MT" panose="0204060305050503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4B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Key insight: only 2⁴ = 16 possible marking patterns per block → precompute lookup table.</a:t>
            </a:r>
            <a:endParaRPr lang="en-US" sz="1300" dirty="0">
              <a:latin typeface="Calisto MT" panose="0204060305050503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4B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16 circuits built once on AerSimulator (~15 sec). Then each image: table lookup only (&lt;0.4 sec).</a:t>
            </a:r>
            <a:endParaRPr lang="en-US" sz="1300" dirty="0">
              <a:latin typeface="Calisto MT" panose="0204060305050503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427" y="2164539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q₀ (vertex LSB)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882947" y="2283411"/>
            <a:ext cx="6583680" cy="0"/>
          </a:xfrm>
          <a:prstGeom prst="line">
            <a:avLst/>
          </a:prstGeom>
          <a:noFill/>
          <a:ln w="1905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427" y="2850339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q₁ (vertex MSB)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82947" y="2969211"/>
            <a:ext cx="6583680" cy="0"/>
          </a:xfrm>
          <a:prstGeom prst="line">
            <a:avLst/>
          </a:prstGeom>
          <a:noFill/>
          <a:ln w="1905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427" y="3536139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q₂ (coin LSB)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82947" y="3655011"/>
            <a:ext cx="6583680" cy="0"/>
          </a:xfrm>
          <a:prstGeom prst="line">
            <a:avLst/>
          </a:prstGeom>
          <a:noFill/>
          <a:ln w="1905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427" y="4221939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q₃ (coin MSB)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82947" y="4340811"/>
            <a:ext cx="6583680" cy="0"/>
          </a:xfrm>
          <a:prstGeom prst="line">
            <a:avLst/>
          </a:prstGeom>
          <a:noFill/>
          <a:ln w="1905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928667" y="2100531"/>
            <a:ext cx="502920" cy="365760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928667" y="2100531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A8F"/>
                </a:solidFill>
              </a:rPr>
              <a:t>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928667" y="2786331"/>
            <a:ext cx="502920" cy="365760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928667" y="2786331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A8F"/>
                </a:solidFill>
              </a:rPr>
              <a:t>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928667" y="3472131"/>
            <a:ext cx="502920" cy="1005840"/>
          </a:xfrm>
          <a:prstGeom prst="roundRect">
            <a:avLst>
              <a:gd name="adj" fmla="val 21818"/>
            </a:avLst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928667" y="3472131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6534"/>
                </a:solidFill>
              </a:rPr>
              <a:t>Init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66534"/>
                </a:solidFill>
              </a:rPr>
              <a:t>|cv⟩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574587" y="2100531"/>
            <a:ext cx="731520" cy="2423160"/>
          </a:xfrm>
          <a:prstGeom prst="roundRect">
            <a:avLst>
              <a:gd name="adj" fmla="val 15000"/>
            </a:avLst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574587" y="2100531"/>
            <a:ext cx="7315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4444"/>
                </a:solidFill>
              </a:rPr>
              <a:t>C_G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EF4444"/>
                </a:solidFill>
              </a:rPr>
              <a:t>16×16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80427" y="2100531"/>
            <a:ext cx="731520" cy="2423160"/>
          </a:xfrm>
          <a:prstGeom prst="roundRect">
            <a:avLst>
              <a:gd name="adj" fmla="val 15000"/>
            </a:avLst>
          </a:prstGeom>
          <a:solidFill>
            <a:srgbClr val="EDE9FE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580427" y="2100531"/>
            <a:ext cx="7315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C1D95"/>
                </a:solidFill>
              </a:rPr>
              <a:t>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4C1D95"/>
                </a:solidFill>
              </a:rPr>
              <a:t>16×16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749040" y="5166360"/>
            <a:ext cx="1920240" cy="0"/>
          </a:xfrm>
          <a:prstGeom prst="line">
            <a:avLst/>
          </a:prstGeom>
          <a:noFill/>
          <a:ln w="19050">
            <a:solidFill>
              <a:srgbClr val="1A3A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749040" y="5212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3A8F"/>
                </a:solidFill>
              </a:rPr>
              <a:t>Repeat t times  (t = 1…5)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605085" y="2107014"/>
            <a:ext cx="640080" cy="365760"/>
          </a:xfrm>
          <a:prstGeom prst="roundRect">
            <a:avLst>
              <a:gd name="adj" fmla="val 3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592107" y="2100531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Meas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592107" y="2786331"/>
            <a:ext cx="640080" cy="365760"/>
          </a:xfrm>
          <a:prstGeom prst="roundRect">
            <a:avLst>
              <a:gd name="adj" fmla="val 3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592107" y="2786331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Meas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592107" y="3472131"/>
            <a:ext cx="640080" cy="365760"/>
          </a:xfrm>
          <a:prstGeom prst="roundRect">
            <a:avLst>
              <a:gd name="adj" fmla="val 3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592107" y="3472131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Meas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592107" y="4157931"/>
            <a:ext cx="640080" cy="365760"/>
          </a:xfrm>
          <a:prstGeom prst="roundRect">
            <a:avLst>
              <a:gd name="adj" fmla="val 3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592107" y="4157931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Meas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sto MT" panose="02040603050505030304" pitchFamily="18" charset="0"/>
              </a:rPr>
              <a:t>Circuit validated against exact statevector for all 16 patterns ✓</a:t>
            </a:r>
            <a:endParaRPr lang="en-US" sz="1100" dirty="0">
              <a:latin typeface="Calisto MT" panose="0204060305050503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4B"/>
                </a:solidFill>
                <a:latin typeface="Calisto MT" panose="02040603050505030304" pitchFamily="18" charset="0"/>
                <a:ea typeface="Cambria" pitchFamily="34" charset="-122"/>
                <a:cs typeface="Cambria" pitchFamily="34" charset="-120"/>
              </a:rPr>
              <a:t>Experimental Results — 20 BSDS500 Images</a:t>
            </a:r>
            <a:endParaRPr lang="en-US" sz="2600" dirty="0">
              <a:latin typeface="Calisto MT" panose="0204060305050503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Evaluated on 20 images from BSDS500 dataset  |  Parameters: s=0.0001, threshold=30, T=1000</a:t>
            </a:r>
            <a:endParaRPr lang="en-US" sz="1100" dirty="0">
              <a:latin typeface="Calisto MT" panose="0204060305050503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B4B"/>
                </a:solidFill>
                <a:latin typeface="Calisto MT" panose="02040603050505030304" pitchFamily="18" charset="0"/>
                <a:ea typeface="Cambria" pitchFamily="34" charset="-122"/>
                <a:cs typeface="Cambria" pitchFamily="34" charset="-120"/>
              </a:rPr>
              <a:t>Raw Oracle F1</a:t>
            </a:r>
            <a:endParaRPr lang="en-US" sz="1150" dirty="0">
              <a:latin typeface="Calisto MT" panose="0204060305050503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75564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Calisto MT" panose="02040603050505030304" pitchFamily="18" charset="0"/>
              </a:rPr>
              <a:t>0.2571</a:t>
            </a:r>
            <a:endParaRPr lang="en-US" sz="1600" dirty="0">
              <a:latin typeface="Calisto MT" panose="0204060305050503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737360" y="175564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sto MT" panose="02040603050505030304" pitchFamily="18" charset="0"/>
              </a:rPr>
              <a:t>0.2598</a:t>
            </a:r>
            <a:endParaRPr lang="en-US" sz="1600" dirty="0">
              <a:latin typeface="Calisto MT" panose="0204060305050503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22585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sto MT" panose="02040603050505030304" pitchFamily="18" charset="0"/>
              </a:rPr>
              <a:t>Paper</a:t>
            </a:r>
            <a:endParaRPr lang="en-US" sz="900" dirty="0">
              <a:latin typeface="Calisto MT" panose="0204060305050503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737360" y="22585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sto MT" panose="02040603050505030304" pitchFamily="18" charset="0"/>
              </a:rPr>
              <a:t>Ours</a:t>
            </a:r>
            <a:endParaRPr lang="en-US" sz="900" dirty="0">
              <a:latin typeface="Calisto MT" panose="0204060305050503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25420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B981"/>
                </a:solidFill>
                <a:latin typeface="Calisto MT" panose="02040603050505030304" pitchFamily="18" charset="0"/>
              </a:rPr>
              <a:t>+1.05%</a:t>
            </a:r>
            <a:endParaRPr lang="en-US" sz="1500" dirty="0">
              <a:latin typeface="Calisto MT" panose="0204060305050503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00400" y="132588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91840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B4B"/>
                </a:solidFill>
                <a:latin typeface="Calisto MT" panose="02040603050505030304" pitchFamily="18" charset="0"/>
                <a:ea typeface="Cambria" pitchFamily="34" charset="-122"/>
                <a:cs typeface="Cambria" pitchFamily="34" charset="-120"/>
              </a:rPr>
              <a:t>Otsu Oracle F1</a:t>
            </a:r>
            <a:endParaRPr lang="en-US" sz="1150" dirty="0">
              <a:latin typeface="Calisto MT" panose="0204060305050503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291840" y="175564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Calisto MT" panose="02040603050505030304" pitchFamily="18" charset="0"/>
              </a:rPr>
              <a:t>0.2554</a:t>
            </a:r>
            <a:endParaRPr lang="en-US" sz="1600" dirty="0">
              <a:latin typeface="Calisto MT" panose="0204060305050503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0" y="175564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sto MT" panose="02040603050505030304" pitchFamily="18" charset="0"/>
              </a:rPr>
              <a:t>0.2664</a:t>
            </a:r>
            <a:endParaRPr lang="en-US" sz="1600" dirty="0">
              <a:latin typeface="Calisto MT" panose="0204060305050503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91840" y="22585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sto MT" panose="02040603050505030304" pitchFamily="18" charset="0"/>
              </a:rPr>
              <a:t>Paper</a:t>
            </a:r>
            <a:endParaRPr lang="en-US" sz="900" dirty="0">
              <a:latin typeface="Calisto MT" panose="0204060305050503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0" y="22585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sto MT" panose="02040603050505030304" pitchFamily="18" charset="0"/>
              </a:rPr>
              <a:t>Ours</a:t>
            </a:r>
            <a:endParaRPr lang="en-US" sz="900" dirty="0">
              <a:latin typeface="Calisto MT" panose="0204060305050503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291840" y="25420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B981"/>
                </a:solidFill>
                <a:latin typeface="Calisto MT" panose="02040603050505030304" pitchFamily="18" charset="0"/>
              </a:rPr>
              <a:t>+4.31%</a:t>
            </a:r>
            <a:endParaRPr lang="en-US" sz="1500" dirty="0">
              <a:latin typeface="Calisto MT" panose="0204060305050503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035040" y="132588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EDE9FE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126480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B4B"/>
                </a:solidFill>
                <a:latin typeface="Calisto MT" panose="02040603050505030304" pitchFamily="18" charset="0"/>
                <a:ea typeface="Cambria" pitchFamily="34" charset="-122"/>
                <a:cs typeface="Cambria" pitchFamily="34" charset="-120"/>
              </a:rPr>
              <a:t>Otsu Quantum F1</a:t>
            </a:r>
            <a:endParaRPr lang="en-US" sz="1150" dirty="0">
              <a:latin typeface="Calisto MT" panose="0204060305050503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126480" y="175564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Calisto MT" panose="02040603050505030304" pitchFamily="18" charset="0"/>
              </a:rPr>
              <a:t>0.2572</a:t>
            </a:r>
            <a:endParaRPr lang="en-US" sz="1600" dirty="0">
              <a:latin typeface="Calisto MT" panose="0204060305050503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406640" y="175564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sto MT" panose="02040603050505030304" pitchFamily="18" charset="0"/>
              </a:rPr>
              <a:t>0.2602</a:t>
            </a:r>
            <a:endParaRPr lang="en-US" sz="1600" dirty="0">
              <a:latin typeface="Calisto MT" panose="0204060305050503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126480" y="22585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sto MT" panose="02040603050505030304" pitchFamily="18" charset="0"/>
              </a:rPr>
              <a:t>Paper</a:t>
            </a:r>
            <a:endParaRPr lang="en-US" sz="900" dirty="0">
              <a:latin typeface="Calisto MT" panose="0204060305050503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406640" y="22585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sto MT" panose="02040603050505030304" pitchFamily="18" charset="0"/>
              </a:rPr>
              <a:t>Ours</a:t>
            </a:r>
            <a:endParaRPr lang="en-US" sz="900" dirty="0">
              <a:latin typeface="Calisto MT" panose="0204060305050503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126480" y="25420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B981"/>
                </a:solidFill>
                <a:latin typeface="Calisto MT" panose="02040603050505030304" pitchFamily="18" charset="0"/>
              </a:rPr>
              <a:t>+1.17%</a:t>
            </a:r>
            <a:endParaRPr lang="en-US" sz="1500" dirty="0">
              <a:latin typeface="Calisto MT" panose="0204060305050503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65760" y="32461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4B"/>
                </a:solidFill>
                <a:latin typeface="Calisto MT" panose="02040603050505030304" pitchFamily="18" charset="0"/>
              </a:rPr>
              <a:t>Proposed method wins Otsu Oracle F1 on 18/20 images, Otsu Quantum F1 on 12/20 images</a:t>
            </a:r>
            <a:endParaRPr lang="en-US" sz="1200" dirty="0">
              <a:latin typeface="Calisto MT" panose="02040603050505030304" pitchFamily="18" charset="0"/>
            </a:endParaRPr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573648"/>
              </p:ext>
            </p:extLst>
          </p:nvPr>
        </p:nvGraphicFramePr>
        <p:xfrm>
          <a:off x="365760" y="3657600"/>
          <a:ext cx="8412480" cy="1316736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sto MT" panose="02040603050505030304" pitchFamily="18" charset="0"/>
                        </a:rPr>
                        <a:t>Showcase Image</a:t>
                      </a:r>
                      <a:endParaRPr lang="en-US" sz="12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sto MT" panose="02040603050505030304" pitchFamily="18" charset="0"/>
                        </a:rPr>
                        <a:t>Raw Oracle F1 Δ</a:t>
                      </a:r>
                      <a:endParaRPr lang="en-US" sz="12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sto MT" panose="02040603050505030304" pitchFamily="18" charset="0"/>
                        </a:rPr>
                        <a:t>Otsu Oracle F1 Δ</a:t>
                      </a:r>
                      <a:endParaRPr lang="en-US" sz="12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sto MT" panose="02040603050505030304" pitchFamily="18" charset="0"/>
                        </a:rPr>
                        <a:t>Otsu Quantum F1 Δ</a:t>
                      </a:r>
                      <a:endParaRPr lang="en-US" sz="12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4B"/>
                          </a:solidFill>
                          <a:latin typeface="Calisto MT" panose="02040603050505030304" pitchFamily="18" charset="0"/>
                        </a:rPr>
                        <a:t>29030 (Ferrari Car)</a:t>
                      </a:r>
                      <a:endParaRPr lang="en-US" sz="11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sto MT" panose="02040603050505030304" pitchFamily="18" charset="0"/>
                        </a:rPr>
                        <a:t>+0.0079</a:t>
                      </a:r>
                      <a:endParaRPr lang="en-US" sz="11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sto MT" panose="02040603050505030304" pitchFamily="18" charset="0"/>
                        </a:rPr>
                        <a:t>+0.0140</a:t>
                      </a:r>
                      <a:endParaRPr lang="en-US" sz="11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sto MT" panose="02040603050505030304" pitchFamily="18" charset="0"/>
                        </a:rPr>
                        <a:t>+0.0080</a:t>
                      </a:r>
                      <a:endParaRPr lang="en-US" sz="11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4B"/>
                          </a:solidFill>
                          <a:latin typeface="Calisto MT" panose="02040603050505030304" pitchFamily="18" charset="0"/>
                        </a:rPr>
                        <a:t>8068 (Swan)</a:t>
                      </a:r>
                      <a:endParaRPr lang="en-US" sz="11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sto MT" panose="02040603050505030304" pitchFamily="18" charset="0"/>
                        </a:rPr>
                        <a:t>+0.0072</a:t>
                      </a:r>
                      <a:endParaRPr lang="en-US" sz="11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sto MT" panose="02040603050505030304" pitchFamily="18" charset="0"/>
                        </a:rPr>
                        <a:t>+0.0239</a:t>
                      </a:r>
                      <a:endParaRPr lang="en-US" sz="11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sto MT" panose="02040603050505030304" pitchFamily="18" charset="0"/>
                        </a:rPr>
                        <a:t>+0.0071</a:t>
                      </a:r>
                      <a:endParaRPr lang="en-US" sz="11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4B"/>
                </a:solidFill>
                <a:latin typeface="Calisto MT" panose="02040603050505030304" pitchFamily="18" charset="0"/>
                <a:ea typeface="Cambria" pitchFamily="34" charset="-122"/>
                <a:cs typeface="Cambria" pitchFamily="34" charset="-120"/>
              </a:rPr>
              <a:t>Showcase: Image 29030 (Ferrari Car) &amp; 8068 (Swan)</a:t>
            </a:r>
            <a:endParaRPr lang="en-US" sz="2600" dirty="0">
              <a:latin typeface="Calisto MT" panose="0204060305050503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8F"/>
                </a:solidFill>
                <a:latin typeface="Calisto MT" panose="02040603050505030304" pitchFamily="18" charset="0"/>
              </a:rPr>
              <a:t>Ferrari Car — dominant diagonal body panel, wheel arch, and spoiler edges</a:t>
            </a:r>
            <a:endParaRPr lang="en-US" sz="1100" dirty="0">
              <a:latin typeface="Calisto MT" panose="0204060305050503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66344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8F"/>
                </a:solidFill>
                <a:latin typeface="Calisto MT" panose="02040603050505030304" pitchFamily="18" charset="0"/>
              </a:rPr>
              <a:t>Swan — almost entirely diagonal neck and body contour against smooth water background</a:t>
            </a:r>
            <a:endParaRPr lang="en-US" sz="1100" dirty="0">
              <a:latin typeface="Calisto MT" panose="0204060305050503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1783080" cy="1463040"/>
          </a:xfrm>
          <a:prstGeom prst="roundRect">
            <a:avLst>
              <a:gd name="adj" fmla="val 7500"/>
            </a:avLst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25146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sto MT" panose="02040603050505030304" pitchFamily="18" charset="0"/>
              </a:rPr>
              <a:t>(a) Original</a:t>
            </a:r>
            <a:endParaRPr lang="en-US" sz="850" dirty="0">
              <a:latin typeface="Calisto MT" panose="0204060305050503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2E8F0"/>
                </a:solidFill>
              </a:rPr>
              <a:t>[ Image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E2E8F0"/>
                </a:solidFill>
              </a:rPr>
              <a:t>Here 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31720" y="1325880"/>
            <a:ext cx="1783080" cy="1463040"/>
          </a:xfrm>
          <a:prstGeom prst="roundRect">
            <a:avLst>
              <a:gd name="adj" fmla="val 7500"/>
            </a:avLst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331720" y="25146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sto MT" panose="02040603050505030304" pitchFamily="18" charset="0"/>
              </a:rPr>
              <a:t>(b) Ground Truth</a:t>
            </a:r>
            <a:endParaRPr lang="en-US" sz="850" dirty="0">
              <a:latin typeface="Calisto MT" panose="0204060305050503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331720" y="15087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2E8F0"/>
                </a:solidFill>
              </a:rPr>
              <a:t>[ Image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E2E8F0"/>
                </a:solidFill>
              </a:rPr>
              <a:t>Here 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1783080" cy="1463040"/>
          </a:xfrm>
          <a:prstGeom prst="roundRect">
            <a:avLst>
              <a:gd name="adj" fmla="val 7500"/>
            </a:avLst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65760" y="42062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sto MT" panose="02040603050505030304" pitchFamily="18" charset="0"/>
              </a:rPr>
              <a:t>(c) Gradient (6-dir)</a:t>
            </a:r>
            <a:endParaRPr lang="en-US" sz="850" dirty="0">
              <a:latin typeface="Calisto MT" panose="0204060305050503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65760" y="320040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2E8F0"/>
                </a:solidFill>
              </a:rPr>
              <a:t>[ Image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E2E8F0"/>
                </a:solidFill>
              </a:rPr>
              <a:t>Here 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31720" y="3017520"/>
            <a:ext cx="1783080" cy="1463040"/>
          </a:xfrm>
          <a:prstGeom prst="roundRect">
            <a:avLst>
              <a:gd name="adj" fmla="val 7500"/>
            </a:avLst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331720" y="42062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sto MT" panose="02040603050505030304" pitchFamily="18" charset="0"/>
              </a:rPr>
              <a:t>(d) Otsu Quantum</a:t>
            </a:r>
            <a:endParaRPr lang="en-US" sz="850" dirty="0">
              <a:latin typeface="Calisto MT" panose="0204060305050503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331720" y="320040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2E8F0"/>
                </a:solidFill>
              </a:rPr>
              <a:t>[ Image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E2E8F0"/>
                </a:solidFill>
              </a:rPr>
              <a:t>Here ]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325880"/>
            <a:ext cx="1783080" cy="1463040"/>
          </a:xfrm>
          <a:prstGeom prst="roundRect">
            <a:avLst>
              <a:gd name="adj" fmla="val 7500"/>
            </a:avLst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663440" y="25146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sto MT" panose="02040603050505030304" pitchFamily="18" charset="0"/>
              </a:rPr>
              <a:t>(a) Original</a:t>
            </a:r>
            <a:endParaRPr lang="en-US" sz="850" dirty="0">
              <a:latin typeface="Calisto MT" panose="0204060305050503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663440" y="15087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2E8F0"/>
                </a:solidFill>
              </a:rPr>
              <a:t>[ Image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E2E8F0"/>
                </a:solidFill>
              </a:rPr>
              <a:t>Here ]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29400" y="1325880"/>
            <a:ext cx="1783080" cy="1463040"/>
          </a:xfrm>
          <a:prstGeom prst="roundRect">
            <a:avLst>
              <a:gd name="adj" fmla="val 7500"/>
            </a:avLst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629400" y="25146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sto MT" panose="02040603050505030304" pitchFamily="18" charset="0"/>
              </a:rPr>
              <a:t>(b) Ground Truth</a:t>
            </a:r>
            <a:endParaRPr lang="en-US" sz="850" dirty="0">
              <a:latin typeface="Calisto MT" panose="0204060305050503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629400" y="15087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2E8F0"/>
                </a:solidFill>
              </a:rPr>
              <a:t>[ Image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E2E8F0"/>
                </a:solidFill>
              </a:rPr>
              <a:t>Here ]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017520"/>
            <a:ext cx="1783080" cy="1463040"/>
          </a:xfrm>
          <a:prstGeom prst="roundRect">
            <a:avLst>
              <a:gd name="adj" fmla="val 7500"/>
            </a:avLst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663440" y="42062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sto MT" panose="02040603050505030304" pitchFamily="18" charset="0"/>
              </a:rPr>
              <a:t>(c) Gradient (6-dir)</a:t>
            </a:r>
            <a:endParaRPr lang="en-US" sz="850" dirty="0">
              <a:latin typeface="Calisto MT" panose="0204060305050503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663440" y="320040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2E8F0"/>
                </a:solidFill>
              </a:rPr>
              <a:t>[ Image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E2E8F0"/>
                </a:solidFill>
              </a:rPr>
              <a:t>Here ]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29400" y="3017520"/>
            <a:ext cx="1783080" cy="1463040"/>
          </a:xfrm>
          <a:prstGeom prst="roundRect">
            <a:avLst>
              <a:gd name="adj" fmla="val 7500"/>
            </a:avLst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629400" y="42062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sto MT" panose="02040603050505030304" pitchFamily="18" charset="0"/>
              </a:rPr>
              <a:t>(d) Otsu Quantum</a:t>
            </a:r>
            <a:endParaRPr lang="en-US" sz="850" dirty="0">
              <a:latin typeface="Calisto MT" panose="0204060305050503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629400" y="320040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2E8F0"/>
                </a:solidFill>
              </a:rPr>
              <a:t>[ Image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E2E8F0"/>
                </a:solidFill>
              </a:rPr>
              <a:t>Here ]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sto MT" panose="02040603050505030304" pitchFamily="18" charset="0"/>
              </a:rPr>
              <a:t>→ Replace placeholder boxes with your saved thesis images from the images/ folder</a:t>
            </a:r>
            <a:endParaRPr lang="en-US" sz="950" dirty="0">
              <a:latin typeface="Calisto MT" panose="02040603050505030304" pitchFamily="18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201CF45-342C-3AE4-576D-477739F30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260" y="1389889"/>
            <a:ext cx="1657913" cy="1106424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7BF3886-9229-9DE1-7242-8FFFAD7BE7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5516" y="1386172"/>
            <a:ext cx="1663481" cy="111014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1BD8DDFE-D44D-97F5-8EA1-4E055D378F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260" y="3088722"/>
            <a:ext cx="1657913" cy="1106424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B01048A1-FB60-C836-DCD9-27E7B055DF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95515" y="3081529"/>
            <a:ext cx="1663481" cy="111014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62210B67-C4C0-FBD6-9DFD-A874079D48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0613" y="1381631"/>
            <a:ext cx="1627761" cy="112345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45D9A3A0-98B5-5F98-7E73-4CF470200D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5650" y="1381632"/>
            <a:ext cx="1679942" cy="1121126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4B6B88E7-8876-2E23-CD46-D985A677E05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40613" y="3099816"/>
            <a:ext cx="1627761" cy="1086302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25DAF4F2-96CA-D43D-D5DE-753DCE0E01E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85651" y="3069725"/>
            <a:ext cx="1679942" cy="112112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4B"/>
                </a:solidFill>
                <a:latin typeface="Calisto MT" panose="02040603050505030304" pitchFamily="18" charset="0"/>
                <a:ea typeface="Cambria" pitchFamily="34" charset="-122"/>
                <a:cs typeface="Cambria" pitchFamily="34" charset="-120"/>
              </a:rPr>
              <a:t>Qiskit Results &amp; Summary</a:t>
            </a:r>
            <a:endParaRPr lang="en-US" sz="2600" dirty="0">
              <a:latin typeface="Calisto MT" panose="0204060305050503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4B"/>
                </a:solidFill>
                <a:latin typeface="Calisto MT" panose="02040603050505030304" pitchFamily="18" charset="0"/>
                <a:ea typeface="Cambria" pitchFamily="34" charset="-122"/>
                <a:cs typeface="Cambria" pitchFamily="34" charset="-120"/>
              </a:rPr>
              <a:t>AerSimulator — Otsu Quantum F1 vs iteration depth t :</a:t>
            </a:r>
            <a:endParaRPr lang="en-US" sz="1400" dirty="0">
              <a:latin typeface="Calisto MT" panose="02040603050505030304" pitchFamily="18" charset="0"/>
            </a:endParaRPr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3315449"/>
              </p:ext>
            </p:extLst>
          </p:nvPr>
        </p:nvGraphicFramePr>
        <p:xfrm>
          <a:off x="365760" y="1280159"/>
          <a:ext cx="5029200" cy="1894816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37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sto MT" panose="02040603050505030304" pitchFamily="18" charset="0"/>
                        </a:rPr>
                        <a:t>Method</a:t>
                      </a:r>
                      <a:endParaRPr lang="en-US" sz="11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sto MT" panose="02040603050505030304" pitchFamily="18" charset="0"/>
                        </a:rPr>
                        <a:t>t=1</a:t>
                      </a:r>
                      <a:endParaRPr lang="en-US" sz="11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sto MT" panose="02040603050505030304" pitchFamily="18" charset="0"/>
                        </a:rPr>
                        <a:t>t=2</a:t>
                      </a:r>
                      <a:endParaRPr lang="en-US" sz="11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sto MT" panose="02040603050505030304" pitchFamily="18" charset="0"/>
                        </a:rPr>
                        <a:t>t=3</a:t>
                      </a:r>
                      <a:endParaRPr lang="en-US" sz="11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sto MT" panose="02040603050505030304" pitchFamily="18" charset="0"/>
                        </a:rPr>
                        <a:t>t=4</a:t>
                      </a:r>
                      <a:endParaRPr lang="en-US" sz="11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sto MT" panose="02040603050505030304" pitchFamily="18" charset="0"/>
                        </a:rPr>
                        <a:t>t=5</a:t>
                      </a:r>
                      <a:endParaRPr lang="en-US" sz="11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7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4B"/>
                          </a:solidFill>
                          <a:latin typeface="Calisto MT" panose="02040603050505030304" pitchFamily="18" charset="0"/>
                        </a:rPr>
                        <a:t>Paper (4-dir)</a:t>
                      </a:r>
                      <a:endParaRPr lang="en-US" sz="10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sto MT" panose="02040603050505030304" pitchFamily="18" charset="0"/>
                        </a:rPr>
                        <a:t>0.1451</a:t>
                      </a:r>
                      <a:endParaRPr lang="en-US" sz="10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  <a:latin typeface="Calisto MT" panose="02040603050505030304" pitchFamily="18" charset="0"/>
                        </a:rPr>
                        <a:t>0.1614</a:t>
                      </a:r>
                      <a:endParaRPr lang="en-US" sz="10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sto MT" panose="02040603050505030304" pitchFamily="18" charset="0"/>
                        </a:rPr>
                        <a:t>0.1350</a:t>
                      </a:r>
                      <a:endParaRPr lang="en-US" sz="10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sto MT" panose="02040603050505030304" pitchFamily="18" charset="0"/>
                        </a:rPr>
                        <a:t>0.0480</a:t>
                      </a:r>
                      <a:endParaRPr lang="en-US" sz="10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sto MT" panose="02040603050505030304" pitchFamily="18" charset="0"/>
                        </a:rPr>
                        <a:t>0.0496</a:t>
                      </a:r>
                      <a:endParaRPr lang="en-US" sz="10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7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4B"/>
                          </a:solidFill>
                          <a:latin typeface="Calisto MT" panose="02040603050505030304" pitchFamily="18" charset="0"/>
                        </a:rPr>
                        <a:t>Proposed (6-dir)</a:t>
                      </a:r>
                      <a:endParaRPr lang="en-US" sz="10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sto MT" panose="02040603050505030304" pitchFamily="18" charset="0"/>
                        </a:rPr>
                        <a:t>0.1041</a:t>
                      </a:r>
                      <a:endParaRPr lang="en-US" sz="10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sto MT" panose="02040603050505030304" pitchFamily="18" charset="0"/>
                        </a:rPr>
                        <a:t>0.1569</a:t>
                      </a:r>
                      <a:endParaRPr lang="en-US" sz="10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sto MT" panose="02040603050505030304" pitchFamily="18" charset="0"/>
                        </a:rPr>
                        <a:t>0.1315</a:t>
                      </a:r>
                      <a:endParaRPr lang="en-US" sz="10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  <a:latin typeface="Calisto MT" panose="02040603050505030304" pitchFamily="18" charset="0"/>
                        </a:rPr>
                        <a:t>0.0662</a:t>
                      </a:r>
                      <a:endParaRPr lang="en-US" sz="10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sto MT" panose="02040603050505030304" pitchFamily="18" charset="0"/>
                        </a:rPr>
                        <a:t>0.0494</a:t>
                      </a:r>
                      <a:endParaRPr lang="en-US" sz="10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7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4B"/>
                          </a:solidFill>
                          <a:latin typeface="Calisto MT" panose="02040603050505030304" pitchFamily="18" charset="0"/>
                        </a:rPr>
                        <a:t>Δ</a:t>
                      </a:r>
                      <a:endParaRPr lang="en-US" sz="10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sto MT" panose="02040603050505030304" pitchFamily="18" charset="0"/>
                        </a:rPr>
                        <a:t>−0.0411</a:t>
                      </a:r>
                      <a:endParaRPr lang="en-US" sz="10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sto MT" panose="02040603050505030304" pitchFamily="18" charset="0"/>
                        </a:rPr>
                        <a:t>−0.0046</a:t>
                      </a:r>
                      <a:endParaRPr lang="en-US" sz="10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sto MT" panose="02040603050505030304" pitchFamily="18" charset="0"/>
                        </a:rPr>
                        <a:t>−0.0035</a:t>
                      </a:r>
                      <a:endParaRPr lang="en-US" sz="10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sto MT" panose="02040603050505030304" pitchFamily="18" charset="0"/>
                        </a:rPr>
                        <a:t>+0.0182</a:t>
                      </a:r>
                      <a:endParaRPr lang="en-US" sz="10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sto MT" panose="02040603050505030304" pitchFamily="18" charset="0"/>
                        </a:rPr>
                        <a:t>−0.0002</a:t>
                      </a:r>
                      <a:endParaRPr lang="en-US" sz="1000" dirty="0"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3174977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sto MT" panose="02040603050505030304" pitchFamily="18" charset="0"/>
              </a:rPr>
              <a:t>Block circuit peaks at t=2. Diagonal advantage not visible here</a:t>
            </a:r>
            <a:endParaRPr lang="en-US" sz="1400" dirty="0">
              <a:latin typeface="Calisto MT" panose="02040603050505030304" pitchFamily="18" charset="0"/>
            </a:endParaRPr>
          </a:p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sto MT" panose="02040603050505030304" pitchFamily="18" charset="0"/>
              </a:rPr>
              <a:t>due to block isolation — 2×2 circuit is a proof of concept.</a:t>
            </a:r>
            <a:endParaRPr lang="en-US" sz="1400" dirty="0">
              <a:latin typeface="Calisto MT" panose="0204060305050503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577840" y="985735"/>
            <a:ext cx="3291840" cy="3566160"/>
          </a:xfrm>
          <a:prstGeom prst="roundRect">
            <a:avLst>
              <a:gd name="adj" fmla="val 3333"/>
            </a:avLst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669280" y="1031455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8F"/>
                </a:solidFill>
                <a:latin typeface="Calisto MT" panose="02040603050505030304" pitchFamily="18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1400" dirty="0">
              <a:latin typeface="Calisto MT" panose="0204060305050503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669280" y="1442935"/>
            <a:ext cx="3108960" cy="2971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0B981"/>
                </a:solidFill>
                <a:latin typeface="Calisto MT" panose="02040603050505030304" pitchFamily="18" charset="0"/>
              </a:rPr>
              <a:t>✓</a:t>
            </a:r>
            <a:r>
              <a:rPr lang="en-US" sz="1100" dirty="0">
                <a:solidFill>
                  <a:srgbClr val="0D1B4B"/>
                </a:solidFill>
                <a:latin typeface="Calisto MT" panose="02040603050505030304" pitchFamily="18" charset="0"/>
              </a:rPr>
              <a:t>Diagonal oracle: all 3 metrics improved
</a:t>
            </a:r>
            <a:endParaRPr lang="en-US" sz="1100" dirty="0">
              <a:latin typeface="Calisto MT" panose="02040603050505030304" pitchFamily="18" charset="0"/>
            </a:endParaRPr>
          </a:p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sto MT" panose="02040603050505030304" pitchFamily="18" charset="0"/>
              </a:rPr>
              <a:t>✓ </a:t>
            </a:r>
            <a:r>
              <a:rPr lang="en-US" sz="1100" dirty="0">
                <a:solidFill>
                  <a:srgbClr val="0D1B4B"/>
                </a:solidFill>
                <a:latin typeface="Calisto MT" panose="02040603050505030304" pitchFamily="18" charset="0"/>
              </a:rPr>
              <a:t>Otsu: fairer, ground-truth-free eval
</a:t>
            </a:r>
            <a:endParaRPr lang="en-US" sz="1100" dirty="0">
              <a:latin typeface="Calisto MT" panose="02040603050505030304" pitchFamily="18" charset="0"/>
            </a:endParaRPr>
          </a:p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sto MT" panose="02040603050505030304" pitchFamily="18" charset="0"/>
              </a:rPr>
              <a:t>✓ </a:t>
            </a:r>
            <a:r>
              <a:rPr lang="en-US" sz="1100" dirty="0">
                <a:solidFill>
                  <a:srgbClr val="0D1B4B"/>
                </a:solidFill>
                <a:latin typeface="Calisto MT" panose="02040603050505030304" pitchFamily="18" charset="0"/>
              </a:rPr>
              <a:t>Lookup table: 1.5 hrs → 30 sec
</a:t>
            </a:r>
            <a:endParaRPr lang="en-US" sz="1100" dirty="0">
              <a:latin typeface="Calisto MT" panose="02040603050505030304" pitchFamily="18" charset="0"/>
            </a:endParaRPr>
          </a:p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sto MT" panose="02040603050505030304" pitchFamily="18" charset="0"/>
              </a:rPr>
              <a:t>✓ </a:t>
            </a:r>
            <a:r>
              <a:rPr lang="en-US" sz="1100" dirty="0">
                <a:solidFill>
                  <a:srgbClr val="0D1B4B"/>
                </a:solidFill>
                <a:latin typeface="Calisto MT" panose="02040603050505030304" pitchFamily="18" charset="0"/>
              </a:rPr>
              <a:t>Circuit verified vs statevector
</a:t>
            </a:r>
            <a:endParaRPr lang="en-US" sz="1100" dirty="0">
              <a:latin typeface="Calisto MT" panose="02040603050505030304" pitchFamily="18" charset="0"/>
            </a:endParaRPr>
          </a:p>
          <a:p>
            <a:pPr marL="0" indent="0">
              <a:buNone/>
            </a:pPr>
            <a:r>
              <a:rPr lang="en-US" sz="1100" b="1" dirty="0">
                <a:solidFill>
                  <a:srgbClr val="1A3A8F"/>
                </a:solidFill>
                <a:latin typeface="Calisto MT" panose="02040603050505030304" pitchFamily="18" charset="0"/>
              </a:rPr>
              <a:t>Future Work :
</a:t>
            </a:r>
            <a:endParaRPr lang="en-US" sz="1100" dirty="0">
              <a:latin typeface="Calisto MT" panose="0204060305050503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70C0"/>
                </a:solidFill>
                <a:latin typeface="Calisto MT" panose="02040603050505030304" pitchFamily="18" charset="0"/>
              </a:rPr>
              <a:t>• Full 2D Qiskit circuit (MPS)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70C0"/>
                </a:solidFill>
                <a:latin typeface="Calisto MT" panose="02040603050505030304" pitchFamily="18" charset="0"/>
              </a:rPr>
              <a:t>• Adaptive self-loop weight s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70C0"/>
                </a:solidFill>
                <a:latin typeface="Calisto MT" panose="02040603050505030304" pitchFamily="18" charset="0"/>
              </a:rPr>
              <a:t>• Full BSDS500 (200 images)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70C0"/>
                </a:solidFill>
                <a:latin typeface="Calisto MT" panose="02040603050505030304" pitchFamily="18" charset="0"/>
              </a:rPr>
              <a:t>• Colour image extension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D1B4B"/>
                </a:solidFill>
                <a:latin typeface="Calisto MT" panose="02040603050505030304" pitchFamily="18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>
              <a:latin typeface="Calisto MT" panose="0204060305050503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1148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D1B4B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[1] Giri, Sato, Saito. Quantum Walk Search Based Edge Detection. arXiv:2510.04420, 2025.</a:t>
            </a:r>
            <a:endParaRPr lang="en-US" sz="1400" dirty="0">
              <a:latin typeface="Calisto MT" panose="0204060305050503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1746504"/>
            <a:ext cx="41148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D1B4B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[2] Canny, J. A Computational Approach to Edge Detection. IEEE TPAMI, 8(6):679–698, 1986.</a:t>
            </a:r>
            <a:endParaRPr lang="en-US" sz="1400" dirty="0">
              <a:latin typeface="Calisto MT" panose="0204060305050503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2532888"/>
            <a:ext cx="41148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D1B4B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[3] Zhang, Lu, Gao. QSobel: A Novel Quantum Image Edge Extraction. Science China, 2015.</a:t>
            </a:r>
            <a:endParaRPr lang="en-US" sz="1400" dirty="0">
              <a:latin typeface="Calisto MT" panose="0204060305050503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3319272"/>
            <a:ext cx="41148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D1B4B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[4] Yao et al. Quantum Image Processing and Edge Detection. Physical Review X, 7(3), 2017.</a:t>
            </a:r>
            <a:endParaRPr lang="en-US" sz="1400" dirty="0">
              <a:latin typeface="Calisto MT" panose="0204060305050503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4105656"/>
            <a:ext cx="41148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D1B4B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[5] Otsu, N. A Threshold Selection Method from Gray-Level Histograms. IEEE SMC, 9(1), 1979.</a:t>
            </a:r>
            <a:endParaRPr lang="en-US" sz="1400" dirty="0">
              <a:latin typeface="Calisto MT" panose="0204060305050503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754880" y="960120"/>
            <a:ext cx="41148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D1B4B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[6] Martin et al. A Database of Human Segmented Natural Images. ICCV, 2001.</a:t>
            </a:r>
            <a:endParaRPr lang="en-US" sz="1400" dirty="0">
              <a:latin typeface="Calisto MT" panose="0204060305050503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754880" y="1746504"/>
            <a:ext cx="41148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D1B4B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[7] Le, Dong, Hirota. FRQI: Flexible Representation of Quantum Images. QIP, 10(1), 2011.</a:t>
            </a:r>
            <a:endParaRPr lang="en-US" sz="1400" dirty="0">
              <a:latin typeface="Calisto MT" panose="0204060305050503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754880" y="2532888"/>
            <a:ext cx="41148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D1B4B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[8] Portugal, R. Quantum Walks and Search Algorithms. Springer, 2013.</a:t>
            </a:r>
            <a:endParaRPr lang="en-US" sz="1400" dirty="0">
              <a:latin typeface="Calisto MT" panose="0204060305050503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54880" y="3319272"/>
            <a:ext cx="41148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D1B4B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[9] Giri, P.R. Spatial Search on Graphs using Lackadaisical QW. Eur. Phys. J. D, 2023.</a:t>
            </a:r>
            <a:endParaRPr lang="en-US" sz="1400" dirty="0">
              <a:latin typeface="Calisto MT" panose="0204060305050503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54880" y="4105656"/>
            <a:ext cx="41148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D1B4B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[10] Wong, T.G. Equivalence of Szegedy's and Coined Quantum Walks. QIP, 14(9), 2015.</a:t>
            </a:r>
            <a:endParaRPr lang="en-US" sz="1400" dirty="0">
              <a:latin typeface="Calisto MT" panose="0204060305050503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31260" y="8255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Calisto MT" panose="02040603050505030304" pitchFamily="18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800" dirty="0">
              <a:latin typeface="Calisto MT" panose="0204060305050503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17260" y="2197160"/>
            <a:ext cx="36576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31260" y="233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Diagonal Gradient Extension and Otsu-Based Evaluation</a:t>
            </a:r>
            <a:endParaRPr lang="en-US" sz="1400" dirty="0">
              <a:latin typeface="Calisto MT" panose="02040603050505030304" pitchFamily="18" charset="0"/>
            </a:endParaRPr>
          </a:p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for Lackadaisical Quantum Walk Edge Detection</a:t>
            </a:r>
            <a:endParaRPr lang="en-US" sz="1400" dirty="0">
              <a:latin typeface="Calisto MT" panose="0204060305050503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31260" y="307265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Anish Chattopadhyay  |  Roll 90/MCA No. 240003</a:t>
            </a:r>
            <a:endParaRPr lang="en-US" sz="1200" dirty="0">
              <a:latin typeface="Calisto MT" panose="0204060305050503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31260" y="3562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BB3D8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Under the supervision of  Mr. Shambo Chatterjee</a:t>
            </a:r>
            <a:endParaRPr lang="en-US" sz="1600" dirty="0">
              <a:latin typeface="Calisto MT" panose="0204060305050503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31260" y="398393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B3D8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Department of Computer Science and Engineering  |  University of Kalyani</a:t>
            </a:r>
            <a:endParaRPr lang="en-US" sz="1000" dirty="0">
              <a:latin typeface="Calisto MT" panose="0204060305050503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2174</Words>
  <Application>Microsoft Office PowerPoint</Application>
  <PresentationFormat>On-screen Show (16:9)</PresentationFormat>
  <Paragraphs>336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Calisto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Diagonal Gradient Extension and Otsu-Based Evaluation for Lackadaisical Quantum Walk Edge Detection</dc:title>
  <dc:subject>PptxGenJS Presentation</dc:subject>
  <dc:creator>Anish Chattopadhyay</dc:creator>
  <cp:lastModifiedBy>Anish Chattopadhyay</cp:lastModifiedBy>
  <cp:revision>6</cp:revision>
  <dcterms:created xsi:type="dcterms:W3CDTF">2026-06-28T07:47:03Z</dcterms:created>
  <dcterms:modified xsi:type="dcterms:W3CDTF">2026-06-29T02:55:43Z</dcterms:modified>
</cp:coreProperties>
</file>